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</p:sldMasterIdLst>
  <p:notesMasterIdLst>
    <p:notesMasterId r:id="rId59"/>
  </p:notesMasterIdLst>
  <p:sldIdLst>
    <p:sldId id="256" r:id="rId8"/>
    <p:sldId id="257" r:id="rId9"/>
    <p:sldId id="306" r:id="rId10"/>
    <p:sldId id="258" r:id="rId11"/>
    <p:sldId id="259" r:id="rId12"/>
    <p:sldId id="260" r:id="rId13"/>
    <p:sldId id="261" r:id="rId14"/>
    <p:sldId id="307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308" r:id="rId24"/>
    <p:sldId id="302" r:id="rId25"/>
    <p:sldId id="303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0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39159-BCEC-489F-9BA4-76D2FCFA6E3F}" v="70" dt="2024-06-10T10:10:13.163"/>
    <p1510:client id="{6B451B33-08B3-1678-5000-6FEFABF29F7F}" v="56" dt="2024-06-11T05:28:49.142"/>
    <p1510:client id="{957F0A93-535E-3BF0-2C82-E7725A3346E8}" v="317" dt="2024-06-11T02:11:03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microsoft.com/office/2015/10/relationships/revisionInfo" Target="revisionInfo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8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90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91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92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269A508E-FEBF-4FA9-9EE1-02D72133DE37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3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4692EBCC-F0ED-4DF3-AB75-CF7DBBD550A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6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12E7F8A2-4E02-4AE4-AE82-B4C752753E2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499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D4E4E67-A549-49C3-9908-55C6475BDF4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02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2BFB00F-A3D7-4D5A-9B00-6F52A66BAF3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05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2EF53BC-9A34-4D6F-B94D-B4F88FF6B53D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08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E8C6805-9238-44CE-93B8-BC3F614A2AC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11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8B84EE3B-A89C-490A-AE3E-63127167A59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14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A39B0635-4743-4C97-95FC-12626ED507B8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17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C398AA3-1D6D-4263-A5EA-19802EAF7DCF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0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801EA9E2-B1D2-4C2C-AA92-B81860C1C1D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47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3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E552F8E-2270-4085-8085-370CBE676F9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6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A67CAB89-B56C-4714-9E2D-C792FBE5758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529" name="Footer Placeholder 3"/>
          <p:cNvSpPr txBox="1"/>
          <p:nvPr/>
        </p:nvSpPr>
        <p:spPr>
          <a:xfrm>
            <a:off x="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latin typeface="Times New Roman"/>
              </a:rPr>
              <a:t>This is confidential</a:t>
            </a:r>
          </a:p>
        </p:txBody>
      </p:sp>
      <p:sp>
        <p:nvSpPr>
          <p:cNvPr id="530" name="Slide Number Placeholder 4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CF72B4E-881D-4E93-B551-F884D5CE795E}" type="slidenum">
              <a:rPr lang="en-US" sz="1200" b="0" strike="noStrike" spc="-1">
                <a:latin typeface="Times New Roman"/>
              </a:rPr>
              <a:t>51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4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035160" y="2985120"/>
            <a:ext cx="6121440" cy="1124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72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878040" y="1139040"/>
            <a:ext cx="11022120" cy="46098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ftr"/>
          </p:nvPr>
        </p:nvSpPr>
        <p:spPr>
          <a:xfrm>
            <a:off x="106560" y="6674760"/>
            <a:ext cx="584640" cy="154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fld id="{F8D8D95C-C43E-44C0-99FE-662720D8C61C}" type="datetime">
              <a:rPr lang="en-US" sz="1800" b="0" strike="noStrike" spc="-1">
                <a:solidFill>
                  <a:srgbClr val="B2B2B2"/>
                </a:solidFill>
                <a:latin typeface="Calibri"/>
              </a:rPr>
              <a:t>6/10/2024</a:t>
            </a:fld>
            <a:endParaRPr lang="en-US" sz="18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40273611-4C52-4421-BE6E-AFD93D827FD5}" type="slidenum">
              <a:rPr lang="en-US" sz="1800" b="0" strike="noStrike" spc="-1">
                <a:solidFill>
                  <a:srgbClr val="B2B2B2"/>
                </a:solidFill>
                <a:latin typeface="Calibri"/>
              </a:rPr>
              <a:t>‹#›</a:t>
            </a:fld>
            <a:endParaRPr lang="en-US" sz="18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035160" y="2985120"/>
            <a:ext cx="6121440" cy="1124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72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ftr"/>
          </p:nvPr>
        </p:nvSpPr>
        <p:spPr>
          <a:xfrm>
            <a:off x="106560" y="6674760"/>
            <a:ext cx="584640" cy="154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fld id="{F2B1CFF8-0A04-468E-B683-9CD87F04B9F9}" type="datetime">
              <a:rPr lang="en-US" sz="1800" b="0" strike="noStrike" spc="-1">
                <a:solidFill>
                  <a:srgbClr val="B2B2B2"/>
                </a:solidFill>
                <a:latin typeface="Calibri"/>
              </a:rPr>
              <a:t>6/10/2024</a:t>
            </a:fld>
            <a:endParaRPr lang="en-US" sz="1800" b="0" strike="noStrike" spc="-1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D0D5C445-96AC-431A-9756-04BBB8FBA333}" type="slidenum">
              <a:rPr lang="en-US" sz="1800" b="0" strike="noStrike" spc="-1">
                <a:solidFill>
                  <a:srgbClr val="B2B2B2"/>
                </a:solidFill>
                <a:latin typeface="Calibri"/>
              </a:rPr>
              <a:t>‹#›</a:t>
            </a:fld>
            <a:endParaRPr lang="en-US" sz="1800" b="0" strike="noStrike" spc="-1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16200" y="372240"/>
            <a:ext cx="10359000" cy="2194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72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ftr"/>
          </p:nvPr>
        </p:nvSpPr>
        <p:spPr>
          <a:xfrm>
            <a:off x="106560" y="6674760"/>
            <a:ext cx="584640" cy="154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fld id="{7CD2FD34-38E2-45F3-BB80-5D6702460C48}" type="datetime">
              <a:rPr lang="en-US" sz="1800" b="0" strike="noStrike" spc="-1">
                <a:solidFill>
                  <a:srgbClr val="B2B2B2"/>
                </a:solidFill>
                <a:latin typeface="Calibri"/>
              </a:rPr>
              <a:t>6/10/2024</a:t>
            </a:fld>
            <a:endParaRPr lang="en-US" sz="1800" b="0" strike="noStrike" spc="-1"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913600D6-0941-475A-A8C1-1EB34E57A69F}" type="slidenum">
              <a:rPr lang="en-US" sz="1800" b="0" strike="noStrike" spc="-1">
                <a:solidFill>
                  <a:srgbClr val="B2B2B2"/>
                </a:solidFill>
                <a:latin typeface="Calibri"/>
              </a:rPr>
              <a:t>‹#›</a:t>
            </a:fld>
            <a:endParaRPr lang="en-US" sz="1800" b="0" strike="noStrike" spc="-1"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PlaceHolder 1"/>
          <p:cNvSpPr>
            <a:spLocks noGrp="1"/>
          </p:cNvSpPr>
          <p:nvPr>
            <p:ph type="body"/>
          </p:nvPr>
        </p:nvSpPr>
        <p:spPr>
          <a:xfrm>
            <a:off x="1154880" y="1074960"/>
            <a:ext cx="4812120" cy="29512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7816680" y="3737520"/>
            <a:ext cx="3765600" cy="2550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16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1515960" y="1376280"/>
            <a:ext cx="4090680" cy="205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Arial"/>
              </a:rPr>
              <a:t>Contents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PlaceHolder 1"/>
          <p:cNvSpPr>
            <a:spLocks noGrp="1"/>
          </p:cNvSpPr>
          <p:nvPr>
            <p:ph type="body"/>
          </p:nvPr>
        </p:nvSpPr>
        <p:spPr>
          <a:xfrm>
            <a:off x="1155960" y="1074960"/>
            <a:ext cx="6479640" cy="29512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0268640" y="1458360"/>
            <a:ext cx="1207800" cy="610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4000" b="0" strike="noStrike" spc="-1">
                <a:solidFill>
                  <a:srgbClr val="E30613"/>
                </a:solidFill>
                <a:latin typeface="Calibri"/>
              </a:rPr>
              <a:t>#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1515960" y="1376280"/>
            <a:ext cx="5517720" cy="205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Arial"/>
              </a:rPr>
              <a:t>Section Header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 rotWithShape="0">
            <a:blip r:embed="rId1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38080" y="405360"/>
            <a:ext cx="10515240" cy="538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vi-VN" sz="3200" b="0" strike="noStrike" spc="-1">
                <a:solidFill>
                  <a:srgbClr val="E30613"/>
                </a:solidFill>
                <a:latin typeface="Arial"/>
              </a:rPr>
              <a:t>Main heading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838080" y="1361520"/>
            <a:ext cx="10515240" cy="4681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4572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9144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3716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1828800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46000">
              <a:srgbClr val="E30613"/>
            </a:gs>
            <a:gs pos="100000">
              <a:srgbClr val="C0504D"/>
            </a:gs>
          </a:gsLst>
          <a:lin ang="108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4000" b="0" strike="noStrike" spc="-1">
                <a:solidFill>
                  <a:srgbClr val="FFFFFF"/>
                </a:solidFill>
                <a:latin typeface="Arial"/>
              </a:rPr>
              <a:t>Thank you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9" name="Picture 7" descr="A picture containing animal&#10;&#10;Description automatically generated"/>
          <p:cNvPicPr/>
          <p:nvPr/>
        </p:nvPicPr>
        <p:blipFill>
          <a:blip r:embed="rId15"/>
          <a:stretch/>
        </p:blipFill>
        <p:spPr>
          <a:xfrm>
            <a:off x="0" y="0"/>
            <a:ext cx="11860920" cy="6671880"/>
          </a:xfrm>
          <a:prstGeom prst="rect">
            <a:avLst/>
          </a:prstGeom>
          <a:ln w="0">
            <a:noFill/>
          </a:ln>
        </p:spPr>
      </p:pic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searchapparchitecture.techtarget.com/definition/application-program-interface-API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restsharp.dev/docs/intro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quid-technologies.com/online-json-to-schema-converter" TargetMode="Externa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anarys.com/Blogs/ArticleID/305/Extent-Reports-in-Selenium-CSharp-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uget.org/packages/RestSharp" TargetMode="External"/><Relationship Id="rId3" Type="http://schemas.openxmlformats.org/officeDocument/2006/relationships/hyperlink" Target="https://www.extentreports.com/docs/versions/4/net/index.html" TargetMode="External"/><Relationship Id="rId7" Type="http://schemas.openxmlformats.org/officeDocument/2006/relationships/hyperlink" Target="https://json2csharp.com/" TargetMode="External"/><Relationship Id="rId2" Type="http://schemas.openxmlformats.org/officeDocument/2006/relationships/hyperlink" Target="https://restsharp.dev/intro.html#getting-started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ethodpoet.com/fluent-assertions/" TargetMode="External"/><Relationship Id="rId5" Type="http://schemas.openxmlformats.org/officeDocument/2006/relationships/hyperlink" Target="https://learning.postman.com/docs/getting-started/introduction/" TargetMode="External"/><Relationship Id="rId4" Type="http://schemas.openxmlformats.org/officeDocument/2006/relationships/hyperlink" Target="http://json-schema.org/understanding-json-schema/" TargetMode="Externa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object 2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294" name="object 3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5" name="object 4"/>
            <p:cNvSpPr/>
            <p:nvPr/>
          </p:nvSpPr>
          <p:spPr>
            <a:xfrm>
              <a:off x="1014480" y="928800"/>
              <a:ext cx="4838400" cy="4828680"/>
            </a:xfrm>
            <a:custGeom>
              <a:avLst/>
              <a:gdLst/>
              <a:ahLst/>
              <a:cxnLst/>
              <a:rect l="l" t="t" r="r" b="b"/>
              <a:pathLst>
                <a:path w="4838700" h="4829175">
                  <a:moveTo>
                    <a:pt x="0" y="4829175"/>
                  </a:moveTo>
                  <a:lnTo>
                    <a:pt x="4838700" y="4829175"/>
                  </a:lnTo>
                  <a:lnTo>
                    <a:pt x="4838700" y="0"/>
                  </a:lnTo>
                  <a:lnTo>
                    <a:pt x="0" y="0"/>
                  </a:lnTo>
                  <a:lnTo>
                    <a:pt x="0" y="4829175"/>
                  </a:lnTo>
                  <a:close/>
                </a:path>
              </a:pathLst>
            </a:custGeom>
            <a:noFill/>
            <a:ln w="889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6" name="object 5"/>
            <p:cNvSpPr/>
            <p:nvPr/>
          </p:nvSpPr>
          <p:spPr>
            <a:xfrm>
              <a:off x="3724200" y="1314360"/>
              <a:ext cx="7457760" cy="547668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7" name="object 6"/>
            <p:cNvSpPr/>
            <p:nvPr/>
          </p:nvSpPr>
          <p:spPr>
            <a:xfrm>
              <a:off x="10220400" y="209520"/>
              <a:ext cx="1733040" cy="1733040"/>
            </a:xfrm>
            <a:prstGeom prst="rect">
              <a:avLst/>
            </a:pr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98" name="object 7"/>
            <p:cNvSpPr/>
            <p:nvPr/>
          </p:nvSpPr>
          <p:spPr>
            <a:xfrm>
              <a:off x="5853240" y="1585800"/>
              <a:ext cx="360" cy="2171880"/>
            </a:xfrm>
            <a:custGeom>
              <a:avLst/>
              <a:gdLst/>
              <a:ahLst/>
              <a:cxnLst/>
              <a:rect l="l" t="t" r="r" b="b"/>
              <a:pathLst>
                <a:path h="2172335">
                  <a:moveTo>
                    <a:pt x="0" y="0"/>
                  </a:moveTo>
                  <a:lnTo>
                    <a:pt x="0" y="2172081"/>
                  </a:lnTo>
                </a:path>
              </a:pathLst>
            </a:custGeom>
            <a:noFill/>
            <a:ln w="889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99" name="object 8"/>
          <p:cNvSpPr txBox="1"/>
          <p:nvPr/>
        </p:nvSpPr>
        <p:spPr>
          <a:xfrm>
            <a:off x="1457640" y="1360080"/>
            <a:ext cx="3949920" cy="2437200"/>
          </a:xfrm>
          <a:prstGeom prst="rect">
            <a:avLst/>
          </a:prstGeom>
          <a:noFill/>
          <a:ln w="0">
            <a:noFill/>
          </a:ln>
        </p:spPr>
        <p:txBody>
          <a:bodyPr lIns="0" tIns="7560" rIns="0" bIns="0">
            <a:noAutofit/>
          </a:bodyPr>
          <a:lstStyle/>
          <a:p>
            <a:pPr marL="12600">
              <a:lnSpc>
                <a:spcPct val="101000"/>
              </a:lnSpc>
              <a:spcBef>
                <a:spcPts val="60"/>
              </a:spcBef>
            </a:pPr>
            <a:r>
              <a:rPr lang="en-US" sz="3950" b="1" strike="noStrike" spc="-32">
                <a:solidFill>
                  <a:srgbClr val="FFFFFF"/>
                </a:solidFill>
                <a:latin typeface="Arial"/>
              </a:rPr>
              <a:t>API </a:t>
            </a:r>
            <a:r>
              <a:rPr lang="en-US" sz="3950" b="1" strike="noStrike" spc="-46">
                <a:solidFill>
                  <a:srgbClr val="FFFFFF"/>
                </a:solidFill>
                <a:latin typeface="Arial"/>
              </a:rPr>
              <a:t>Automated Testing with RestSharp (NUnit)</a:t>
            </a:r>
            <a:endParaRPr lang="en-US" sz="3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object 10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01" name="object 9"/>
          <p:cNvSpPr/>
          <p:nvPr/>
        </p:nvSpPr>
        <p:spPr>
          <a:xfrm>
            <a:off x="1479960" y="4862160"/>
            <a:ext cx="147276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1550" b="1" strike="noStrike" spc="-12">
                <a:solidFill>
                  <a:srgbClr val="FFFFFF"/>
                </a:solidFill>
                <a:latin typeface="Arial"/>
              </a:rPr>
              <a:t>NASHTECH</a:t>
            </a:r>
            <a:endParaRPr lang="en-US" sz="155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1550" b="0" strike="noStrike" spc="-1">
              <a:latin typeface="Arial"/>
            </a:endParaRPr>
          </a:p>
          <a:p>
            <a:pPr marL="33480">
              <a:lnSpc>
                <a:spcPct val="100000"/>
              </a:lnSpc>
            </a:pPr>
            <a:r>
              <a:rPr lang="en-US" sz="1500" b="0" strike="noStrike" spc="-41">
                <a:solidFill>
                  <a:srgbClr val="FFFFFF"/>
                </a:solidFill>
                <a:latin typeface="Arial"/>
              </a:rPr>
              <a:t>Truong Nguyen</a:t>
            </a: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object 2"/>
          <p:cNvGrpSpPr/>
          <p:nvPr/>
        </p:nvGrpSpPr>
        <p:grpSpPr>
          <a:xfrm>
            <a:off x="0" y="0"/>
            <a:ext cx="7171920" cy="6857640"/>
            <a:chOff x="0" y="0"/>
            <a:chExt cx="7171920" cy="6857640"/>
          </a:xfrm>
        </p:grpSpPr>
        <p:sp>
          <p:nvSpPr>
            <p:cNvPr id="303" name="object 3"/>
            <p:cNvSpPr/>
            <p:nvPr/>
          </p:nvSpPr>
          <p:spPr>
            <a:xfrm>
              <a:off x="0" y="0"/>
              <a:ext cx="7171920" cy="685764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4" name="object 4"/>
            <p:cNvSpPr/>
            <p:nvPr/>
          </p:nvSpPr>
          <p:spPr>
            <a:xfrm>
              <a:off x="1157400" y="1081080"/>
              <a:ext cx="4819320" cy="2952360"/>
            </a:xfrm>
            <a:custGeom>
              <a:avLst/>
              <a:gdLst/>
              <a:ahLst/>
              <a:cxnLst/>
              <a:rect l="l" t="t" r="r" b="b"/>
              <a:pathLst>
                <a:path w="4819650" h="2952750">
                  <a:moveTo>
                    <a:pt x="0" y="2952623"/>
                  </a:moveTo>
                  <a:lnTo>
                    <a:pt x="4819142" y="2952623"/>
                  </a:lnTo>
                  <a:lnTo>
                    <a:pt x="4819142" y="0"/>
                  </a:lnTo>
                  <a:lnTo>
                    <a:pt x="0" y="0"/>
                  </a:lnTo>
                  <a:lnTo>
                    <a:pt x="0" y="2952623"/>
                  </a:lnTo>
                  <a:close/>
                </a:path>
              </a:pathLst>
            </a:custGeom>
            <a:noFill/>
            <a:ln w="889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05" name="object 5"/>
          <p:cNvSpPr/>
          <p:nvPr/>
        </p:nvSpPr>
        <p:spPr>
          <a:xfrm>
            <a:off x="7900920" y="1512000"/>
            <a:ext cx="3528720" cy="21704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9" dirty="0">
                <a:solidFill>
                  <a:srgbClr val="000000"/>
                </a:solidFill>
                <a:latin typeface="Calibri"/>
              </a:rPr>
              <a:t>What </a:t>
            </a:r>
            <a:r>
              <a:rPr lang="en-US" sz="2000" b="0" strike="noStrike" spc="-7" dirty="0">
                <a:solidFill>
                  <a:srgbClr val="000000"/>
                </a:solidFill>
                <a:latin typeface="Calibri"/>
              </a:rPr>
              <a:t>is </a:t>
            </a:r>
            <a:r>
              <a:rPr lang="en-US" sz="2000" b="0" strike="noStrike" spc="18" dirty="0">
                <a:solidFill>
                  <a:srgbClr val="000000"/>
                </a:solidFill>
                <a:latin typeface="Calibri"/>
              </a:rPr>
              <a:t>API</a:t>
            </a:r>
            <a:r>
              <a:rPr lang="en-US" sz="2000" b="0" strike="noStrike" spc="-145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21" dirty="0">
                <a:solidFill>
                  <a:srgbClr val="000000"/>
                </a:solidFill>
                <a:latin typeface="Calibri"/>
              </a:rPr>
              <a:t>Testing</a:t>
            </a:r>
            <a:endParaRPr lang="en-US" sz="2000" b="0" strike="noStrike" spc="-1" dirty="0">
              <a:latin typeface="Arial"/>
            </a:endParaRPr>
          </a:p>
          <a:p>
            <a:pPr marL="469265" indent="-457200">
              <a:lnSpc>
                <a:spcPct val="100000"/>
              </a:lnSpc>
              <a:spcBef>
                <a:spcPts val="6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9" dirty="0">
                <a:solidFill>
                  <a:srgbClr val="000000"/>
                </a:solidFill>
                <a:latin typeface="Calibri"/>
              </a:rPr>
              <a:t>Why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we </a:t>
            </a:r>
            <a:r>
              <a:rPr lang="en-US" sz="2000" b="0" strike="noStrike" spc="4" dirty="0">
                <a:solidFill>
                  <a:srgbClr val="000000"/>
                </a:solidFill>
                <a:latin typeface="Calibri"/>
              </a:rPr>
              <a:t>do </a:t>
            </a:r>
            <a:r>
              <a:rPr lang="en-US" sz="2000" b="0" strike="noStrike" spc="18" dirty="0">
                <a:solidFill>
                  <a:srgbClr val="000000"/>
                </a:solidFill>
                <a:latin typeface="Calibri"/>
              </a:rPr>
              <a:t>API</a:t>
            </a:r>
            <a:r>
              <a:rPr lang="en-US" sz="2000" b="0" strike="noStrike" spc="-265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4" dirty="0">
                <a:solidFill>
                  <a:srgbClr val="000000"/>
                </a:solidFill>
                <a:latin typeface="Calibri"/>
              </a:rPr>
              <a:t>tests</a:t>
            </a:r>
            <a:endParaRPr lang="en-US" sz="2000" b="0" strike="noStrike" spc="-1" dirty="0">
              <a:latin typeface="Arial"/>
            </a:endParaRPr>
          </a:p>
          <a:p>
            <a:pPr marL="469265" indent="-457200">
              <a:lnSpc>
                <a:spcPct val="100000"/>
              </a:lnSpc>
              <a:spcBef>
                <a:spcPts val="6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18" dirty="0">
                <a:solidFill>
                  <a:srgbClr val="000000"/>
                </a:solidFill>
                <a:latin typeface="Calibri"/>
              </a:rPr>
              <a:t>API </a:t>
            </a:r>
            <a:r>
              <a:rPr lang="en-US" sz="2000" b="0" strike="noStrike" spc="-21" dirty="0">
                <a:solidFill>
                  <a:srgbClr val="000000"/>
                </a:solidFill>
                <a:latin typeface="Calibri"/>
              </a:rPr>
              <a:t>Testing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with</a:t>
            </a:r>
            <a:r>
              <a:rPr lang="en-US" sz="2000" b="0" strike="noStrike" spc="-216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7" dirty="0" err="1">
                <a:solidFill>
                  <a:srgbClr val="000000"/>
                </a:solidFill>
                <a:latin typeface="Calibri"/>
              </a:rPr>
              <a:t>RestSharp</a:t>
            </a:r>
            <a:endParaRPr lang="en-US" sz="2000" b="0" strike="noStrike" spc="-1" dirty="0" err="1">
              <a:latin typeface="Arial"/>
            </a:endParaRPr>
          </a:p>
          <a:p>
            <a:pPr marL="469265" indent="-457200">
              <a:lnSpc>
                <a:spcPct val="100000"/>
              </a:lnSpc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-15" dirty="0">
                <a:solidFill>
                  <a:srgbClr val="000000"/>
                </a:solidFill>
                <a:latin typeface="Calibri"/>
              </a:rPr>
              <a:t>Steps for building an automation API testing framework</a:t>
            </a:r>
            <a:endParaRPr lang="en-US" sz="2000" b="0" strike="noStrike" spc="-1" dirty="0">
              <a:latin typeface="Arial"/>
            </a:endParaRPr>
          </a:p>
          <a:p>
            <a:pPr marL="469265" indent="-457200">
              <a:lnSpc>
                <a:spcPct val="100000"/>
              </a:lnSpc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-15" dirty="0">
                <a:solidFill>
                  <a:srgbClr val="000000"/>
                </a:solidFill>
                <a:latin typeface="Calibri"/>
              </a:rPr>
              <a:t>Exercises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06" name="object 7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07" name="object 6"/>
          <p:cNvSpPr txBox="1"/>
          <p:nvPr/>
        </p:nvSpPr>
        <p:spPr>
          <a:xfrm>
            <a:off x="1593000" y="1388160"/>
            <a:ext cx="2293200" cy="122004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950" b="1" strike="noStrike" spc="-80">
                <a:solidFill>
                  <a:srgbClr val="FFFFFF"/>
                </a:solidFill>
                <a:latin typeface="Arial"/>
              </a:rPr>
              <a:t>A</a:t>
            </a:r>
            <a:r>
              <a:rPr lang="en-US" sz="3950" b="1" strike="noStrike" spc="-15">
                <a:solidFill>
                  <a:srgbClr val="FFFFFF"/>
                </a:solidFill>
                <a:latin typeface="Arial"/>
              </a:rPr>
              <a:t>g</a:t>
            </a:r>
            <a:r>
              <a:rPr lang="en-US" sz="3950" b="1" strike="noStrike" spc="-26">
                <a:solidFill>
                  <a:srgbClr val="FFFFFF"/>
                </a:solidFill>
                <a:latin typeface="Arial"/>
              </a:rPr>
              <a:t>e</a:t>
            </a:r>
            <a:r>
              <a:rPr lang="en-US" sz="3950" b="1" strike="noStrike" spc="-15">
                <a:solidFill>
                  <a:srgbClr val="FFFFFF"/>
                </a:solidFill>
                <a:latin typeface="Arial"/>
              </a:rPr>
              <a:t>nda</a:t>
            </a:r>
            <a:endParaRPr lang="en-US" sz="39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D4A9-F612-408B-DCCF-3E27D294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94" y="2641680"/>
            <a:ext cx="6354181" cy="861480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>
                <a:solidFill>
                  <a:schemeClr val="bg1"/>
                </a:solidFill>
                <a:cs typeface="Arial"/>
              </a:rPr>
              <a:t>What is API Testing?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13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bject 2"/>
          <p:cNvSpPr txBox="1"/>
          <p:nvPr/>
        </p:nvSpPr>
        <p:spPr>
          <a:xfrm>
            <a:off x="915840" y="377640"/>
            <a:ext cx="525636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What is an</a:t>
            </a:r>
            <a:r>
              <a:rPr lang="en-US" sz="3200" b="1" strike="noStrike" spc="-245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API?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9" name="object 3"/>
          <p:cNvSpPr/>
          <p:nvPr/>
        </p:nvSpPr>
        <p:spPr>
          <a:xfrm>
            <a:off x="916920" y="1339920"/>
            <a:ext cx="10046520" cy="24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20760" indent="-3081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2148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API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stands for “</a:t>
            </a:r>
            <a:r>
              <a:rPr lang="en-US" sz="2800" b="1" strike="noStrike" spc="-7">
                <a:solidFill>
                  <a:srgbClr val="FF0000"/>
                </a:solidFill>
                <a:latin typeface="Arial"/>
              </a:rPr>
              <a:t>A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pplication </a:t>
            </a:r>
            <a:r>
              <a:rPr lang="en-US" sz="2800" b="1" strike="noStrike" spc="-1">
                <a:solidFill>
                  <a:srgbClr val="FF0000"/>
                </a:solidFill>
                <a:latin typeface="Arial"/>
              </a:rPr>
              <a:t>P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rogramming</a:t>
            </a:r>
            <a:r>
              <a:rPr lang="en-US" sz="2800" b="0" strike="noStrike" spc="109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1" strike="noStrike" spc="-7">
                <a:solidFill>
                  <a:srgbClr val="FF0000"/>
                </a:solidFill>
                <a:latin typeface="Arial"/>
              </a:rPr>
              <a:t>I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nterface.”</a:t>
            </a:r>
            <a:endParaRPr lang="en-US" sz="2800" b="0" strike="noStrike" spc="-1">
              <a:latin typeface="Arial"/>
            </a:endParaRPr>
          </a:p>
          <a:p>
            <a:pPr marL="241200" indent="-228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2148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API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is an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interface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to an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application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designed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for other 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computer systems to</a:t>
            </a:r>
            <a:r>
              <a:rPr lang="en-US" sz="2800" b="0" strike="noStrike" spc="12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use.</a:t>
            </a:r>
            <a:endParaRPr lang="en-US" sz="2800" b="0" strike="noStrike" spc="-1">
              <a:latin typeface="Arial"/>
            </a:endParaRPr>
          </a:p>
          <a:p>
            <a:pPr marL="241200" indent="-228960">
              <a:lnSpc>
                <a:spcPct val="100000"/>
              </a:lnSpc>
              <a:spcBef>
                <a:spcPts val="100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2148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APIs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can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be used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on web-based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systems,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operating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systems,  database systems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and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computer</a:t>
            </a:r>
            <a:r>
              <a:rPr lang="en-US" sz="2800" b="0" strike="noStrike" spc="4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hardware.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object 2"/>
          <p:cNvSpPr txBox="1"/>
          <p:nvPr/>
        </p:nvSpPr>
        <p:spPr>
          <a:xfrm>
            <a:off x="916200" y="372240"/>
            <a:ext cx="49705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-21">
                <a:solidFill>
                  <a:srgbClr val="E20512"/>
                </a:solidFill>
                <a:latin typeface="Arial"/>
              </a:rPr>
              <a:t>What </a:t>
            </a: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Is 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API </a:t>
            </a:r>
            <a:r>
              <a:rPr lang="en-US" sz="3200" b="1" strike="noStrike" spc="18">
                <a:solidFill>
                  <a:srgbClr val="E20512"/>
                </a:solidFill>
                <a:latin typeface="Arial"/>
              </a:rPr>
              <a:t>&amp; 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API</a:t>
            </a:r>
            <a:r>
              <a:rPr lang="en-US" sz="3200" b="1" strike="noStrike" spc="-426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21">
                <a:solidFill>
                  <a:srgbClr val="E20512"/>
                </a:solidFill>
                <a:latin typeface="Arial"/>
              </a:rPr>
              <a:t>Testing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object 3"/>
          <p:cNvSpPr/>
          <p:nvPr/>
        </p:nvSpPr>
        <p:spPr>
          <a:xfrm>
            <a:off x="903240" y="1384920"/>
            <a:ext cx="5412960" cy="407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4000" rIns="0" bIns="0">
            <a:spAutoFit/>
          </a:bodyPr>
          <a:lstStyle/>
          <a:p>
            <a:pPr marL="298440" indent="-285480">
              <a:lnSpc>
                <a:spcPct val="91000"/>
              </a:lnSpc>
              <a:spcBef>
                <a:spcPts val="425"/>
              </a:spcBef>
              <a:buClr>
                <a:srgbClr val="E20512"/>
              </a:buClr>
              <a:buSzPct val="122000"/>
              <a:buFont typeface="Symbol" charset="2"/>
              <a:buChar char=""/>
              <a:tabLst>
                <a:tab pos="298440" algn="l"/>
              </a:tabLst>
            </a:pPr>
            <a:r>
              <a:rPr lang="en-US" sz="2750" b="0" strike="noStrike" spc="24">
                <a:solidFill>
                  <a:srgbClr val="313131"/>
                </a:solidFill>
                <a:latin typeface="Arial"/>
              </a:rPr>
              <a:t>API </a:t>
            </a:r>
            <a:r>
              <a:rPr lang="en-US" sz="2750" b="0" strike="noStrike" spc="-15">
                <a:solidFill>
                  <a:srgbClr val="313131"/>
                </a:solidFill>
                <a:latin typeface="Arial"/>
              </a:rPr>
              <a:t>enables </a:t>
            </a:r>
            <a:r>
              <a:rPr lang="en-US" sz="2750" b="0" strike="noStrike" spc="4">
                <a:solidFill>
                  <a:srgbClr val="313131"/>
                </a:solidFill>
                <a:latin typeface="Arial"/>
              </a:rPr>
              <a:t>communication and  </a:t>
            </a:r>
            <a:r>
              <a:rPr lang="en-US" sz="2750" b="0" strike="noStrike" spc="-1">
                <a:solidFill>
                  <a:srgbClr val="313131"/>
                </a:solidFill>
                <a:latin typeface="Arial"/>
              </a:rPr>
              <a:t>data exchange </a:t>
            </a:r>
            <a:r>
              <a:rPr lang="en-US" sz="2750" b="0" strike="noStrike" spc="-7">
                <a:solidFill>
                  <a:srgbClr val="313131"/>
                </a:solidFill>
                <a:latin typeface="Arial"/>
              </a:rPr>
              <a:t>between </a:t>
            </a:r>
            <a:r>
              <a:rPr lang="en-US" sz="2750" b="0" strike="noStrike" spc="9">
                <a:solidFill>
                  <a:srgbClr val="313131"/>
                </a:solidFill>
                <a:latin typeface="Arial"/>
              </a:rPr>
              <a:t>two  </a:t>
            </a:r>
            <a:r>
              <a:rPr lang="en-US" sz="2750" b="0" strike="noStrike" spc="-15">
                <a:solidFill>
                  <a:srgbClr val="313131"/>
                </a:solidFill>
                <a:latin typeface="Arial"/>
              </a:rPr>
              <a:t>separate </a:t>
            </a:r>
            <a:r>
              <a:rPr lang="en-US" sz="2750" b="0" strike="noStrike" spc="-7">
                <a:solidFill>
                  <a:srgbClr val="313131"/>
                </a:solidFill>
                <a:latin typeface="Arial"/>
              </a:rPr>
              <a:t>software</a:t>
            </a:r>
            <a:r>
              <a:rPr lang="en-US" sz="2750" b="0" strike="noStrike" spc="-185">
                <a:solidFill>
                  <a:srgbClr val="313131"/>
                </a:solidFill>
                <a:latin typeface="Arial"/>
              </a:rPr>
              <a:t> </a:t>
            </a:r>
            <a:r>
              <a:rPr lang="en-US" sz="2750" b="0" strike="noStrike" spc="-26">
                <a:solidFill>
                  <a:srgbClr val="313131"/>
                </a:solidFill>
                <a:latin typeface="Arial"/>
              </a:rPr>
              <a:t>system.</a:t>
            </a:r>
            <a:endParaRPr lang="en-US" sz="275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tabLst>
                <a:tab pos="298440" algn="l"/>
              </a:tabLst>
            </a:pPr>
            <a:endParaRPr lang="en-US" sz="2750" b="0" strike="noStrike" spc="-1">
              <a:latin typeface="Arial"/>
            </a:endParaRPr>
          </a:p>
          <a:p>
            <a:pPr marL="298440" indent="-285480" algn="just">
              <a:lnSpc>
                <a:spcPct val="91000"/>
              </a:lnSpc>
              <a:buClr>
                <a:srgbClr val="E20512"/>
              </a:buClr>
              <a:buSzPct val="122000"/>
              <a:buFont typeface="Arial"/>
              <a:buChar char="•"/>
              <a:tabLst>
                <a:tab pos="298440" algn="l"/>
              </a:tabLst>
            </a:pPr>
            <a:r>
              <a:rPr lang="en-US" sz="2750" b="0" strike="noStrike" spc="29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750" b="0" strike="noStrike" spc="18">
                <a:solidFill>
                  <a:srgbClr val="313131"/>
                </a:solidFill>
                <a:latin typeface="Arial"/>
              </a:rPr>
              <a:t>purpose </a:t>
            </a:r>
            <a:r>
              <a:rPr lang="en-US" sz="2750" b="0" strike="noStrike" spc="24">
                <a:solidFill>
                  <a:srgbClr val="313131"/>
                </a:solidFill>
                <a:latin typeface="Arial"/>
              </a:rPr>
              <a:t>of API </a:t>
            </a:r>
            <a:r>
              <a:rPr lang="en-US" sz="2750" b="0" strike="noStrike" spc="-55">
                <a:solidFill>
                  <a:srgbClr val="313131"/>
                </a:solidFill>
                <a:latin typeface="Arial"/>
              </a:rPr>
              <a:t>Testing </a:t>
            </a:r>
            <a:r>
              <a:rPr lang="en-US" sz="2750" b="0" strike="noStrike" spc="-41">
                <a:solidFill>
                  <a:srgbClr val="313131"/>
                </a:solidFill>
                <a:latin typeface="Arial"/>
              </a:rPr>
              <a:t>is </a:t>
            </a:r>
            <a:r>
              <a:rPr lang="en-US" sz="2750" b="0" strike="noStrike" spc="-1">
                <a:solidFill>
                  <a:srgbClr val="313131"/>
                </a:solidFill>
                <a:latin typeface="Arial"/>
              </a:rPr>
              <a:t>to  </a:t>
            </a:r>
            <a:r>
              <a:rPr lang="en-US" sz="2750" b="0" strike="noStrike" spc="24">
                <a:solidFill>
                  <a:srgbClr val="313131"/>
                </a:solidFill>
                <a:latin typeface="Arial"/>
              </a:rPr>
              <a:t>check </a:t>
            </a:r>
            <a:r>
              <a:rPr lang="en-US" sz="2750" b="0" strike="noStrike" spc="9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750" b="0" strike="noStrike" spc="-26">
                <a:solidFill>
                  <a:srgbClr val="313131"/>
                </a:solidFill>
                <a:latin typeface="Arial"/>
              </a:rPr>
              <a:t>functionality, </a:t>
            </a:r>
            <a:r>
              <a:rPr lang="en-US" sz="2750" b="0" strike="noStrike" spc="-35">
                <a:solidFill>
                  <a:srgbClr val="313131"/>
                </a:solidFill>
                <a:latin typeface="Arial"/>
              </a:rPr>
              <a:t>reliability,  </a:t>
            </a:r>
            <a:r>
              <a:rPr lang="en-US" sz="2750" b="0" strike="noStrike" spc="4">
                <a:solidFill>
                  <a:srgbClr val="313131"/>
                </a:solidFill>
                <a:latin typeface="Arial"/>
              </a:rPr>
              <a:t>performance, and </a:t>
            </a:r>
            <a:r>
              <a:rPr lang="en-US" sz="2750" b="0" strike="noStrike" spc="-12">
                <a:solidFill>
                  <a:srgbClr val="313131"/>
                </a:solidFill>
                <a:latin typeface="Arial"/>
              </a:rPr>
              <a:t>security </a:t>
            </a:r>
            <a:r>
              <a:rPr lang="en-US" sz="2750" b="0" strike="noStrike" spc="24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750" b="0" strike="noStrike" spc="9">
                <a:solidFill>
                  <a:srgbClr val="313131"/>
                </a:solidFill>
                <a:latin typeface="Arial"/>
              </a:rPr>
              <a:t>the  </a:t>
            </a:r>
            <a:r>
              <a:rPr lang="en-US" sz="2750" b="0" strike="noStrike" spc="4">
                <a:solidFill>
                  <a:srgbClr val="313131"/>
                </a:solidFill>
                <a:latin typeface="Arial"/>
              </a:rPr>
              <a:t>programming</a:t>
            </a:r>
            <a:r>
              <a:rPr lang="en-US" sz="2750" b="0" strike="noStrike" spc="222">
                <a:solidFill>
                  <a:srgbClr val="313131"/>
                </a:solidFill>
                <a:latin typeface="Arial"/>
              </a:rPr>
              <a:t> </a:t>
            </a:r>
            <a:r>
              <a:rPr lang="en-US" sz="2750" b="0" strike="noStrike" spc="-15">
                <a:solidFill>
                  <a:srgbClr val="313131"/>
                </a:solidFill>
                <a:latin typeface="Arial"/>
              </a:rPr>
              <a:t>interfaces.</a:t>
            </a:r>
            <a:endParaRPr lang="en-US" sz="275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tabLst>
                <a:tab pos="298440" algn="l"/>
              </a:tabLst>
            </a:pPr>
            <a:endParaRPr lang="en-US" sz="2750" b="0" strike="noStrike" spc="-1">
              <a:latin typeface="Arial"/>
            </a:endParaRPr>
          </a:p>
        </p:txBody>
      </p:sp>
      <p:sp>
        <p:nvSpPr>
          <p:cNvPr id="312" name="object 4"/>
          <p:cNvSpPr/>
          <p:nvPr/>
        </p:nvSpPr>
        <p:spPr>
          <a:xfrm>
            <a:off x="6734160" y="1469880"/>
            <a:ext cx="5028840" cy="19814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3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object 2"/>
          <p:cNvSpPr txBox="1"/>
          <p:nvPr/>
        </p:nvSpPr>
        <p:spPr>
          <a:xfrm>
            <a:off x="915840" y="377640"/>
            <a:ext cx="40204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What is API</a:t>
            </a:r>
            <a:r>
              <a:rPr lang="en-US" sz="3200" b="1" strike="noStrike" spc="-197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35">
                <a:solidFill>
                  <a:srgbClr val="E20512"/>
                </a:solidFill>
                <a:latin typeface="Arial"/>
              </a:rPr>
              <a:t>Testing?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object 3"/>
          <p:cNvSpPr/>
          <p:nvPr/>
        </p:nvSpPr>
        <p:spPr>
          <a:xfrm>
            <a:off x="916920" y="1339920"/>
            <a:ext cx="10315080" cy="28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It is a type of software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testing that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involves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testing </a:t>
            </a: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APIs</a:t>
            </a:r>
            <a:r>
              <a:rPr lang="en-US" sz="2800" b="0" strike="noStrike" spc="-52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26">
                <a:solidFill>
                  <a:srgbClr val="313131"/>
                </a:solidFill>
                <a:latin typeface="Arial"/>
              </a:rPr>
              <a:t>directly.</a:t>
            </a:r>
            <a:endParaRPr lang="en-US" sz="2800" b="0" strike="noStrike" spc="-1">
              <a:latin typeface="Arial"/>
            </a:endParaRPr>
          </a:p>
          <a:p>
            <a:pPr marL="241200" indent="-228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It is to check whether the </a:t>
            </a: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API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meets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expectations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terms</a:t>
            </a:r>
            <a:r>
              <a:rPr lang="en-US" sz="2800" b="0" strike="noStrike" spc="-92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8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2800" b="0" strike="noStrike" spc="-15">
                <a:solidFill>
                  <a:srgbClr val="FF0000"/>
                </a:solidFill>
                <a:latin typeface="Arial"/>
              </a:rPr>
              <a:t>functionality, </a:t>
            </a:r>
            <a:r>
              <a:rPr lang="en-US" sz="2800" b="0" strike="noStrike" spc="-21">
                <a:solidFill>
                  <a:srgbClr val="FF0000"/>
                </a:solidFill>
                <a:latin typeface="Arial"/>
              </a:rPr>
              <a:t>reliability, </a:t>
            </a:r>
            <a:r>
              <a:rPr lang="en-US" sz="2800" b="0" strike="noStrike" spc="-1">
                <a:solidFill>
                  <a:srgbClr val="FF0000"/>
                </a:solidFill>
                <a:latin typeface="Arial"/>
              </a:rPr>
              <a:t>performance, </a:t>
            </a:r>
            <a:r>
              <a:rPr lang="en-US" sz="2800" b="0" strike="noStrike" spc="-7">
                <a:solidFill>
                  <a:srgbClr val="FF0000"/>
                </a:solidFill>
                <a:latin typeface="Arial"/>
              </a:rPr>
              <a:t>and </a:t>
            </a:r>
            <a:r>
              <a:rPr lang="en-US" sz="2800" b="0" strike="noStrike" spc="-1">
                <a:solidFill>
                  <a:srgbClr val="FF0000"/>
                </a:solidFill>
                <a:latin typeface="Arial"/>
              </a:rPr>
              <a:t>security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an  application</a:t>
            </a:r>
            <a:endParaRPr lang="en-US" sz="2800" b="0" strike="noStrike" spc="-1">
              <a:latin typeface="Arial"/>
            </a:endParaRPr>
          </a:p>
          <a:p>
            <a:pPr marL="241200" indent="-228960">
              <a:lnSpc>
                <a:spcPts val="3359"/>
              </a:lnSpc>
              <a:spcBef>
                <a:spcPts val="1120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In </a:t>
            </a: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API </a:t>
            </a:r>
            <a:r>
              <a:rPr lang="en-US" sz="2800" b="0" strike="noStrike" spc="-52">
                <a:solidFill>
                  <a:srgbClr val="313131"/>
                </a:solidFill>
                <a:latin typeface="Arial"/>
              </a:rPr>
              <a:t>Testing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our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main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focus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will be on a </a:t>
            </a:r>
            <a:r>
              <a:rPr lang="en-US" sz="2800" b="0" strike="noStrike" spc="-7">
                <a:solidFill>
                  <a:srgbClr val="FF0000"/>
                </a:solidFill>
                <a:latin typeface="Arial"/>
              </a:rPr>
              <a:t>Business </a:t>
            </a:r>
            <a:r>
              <a:rPr lang="en-US" sz="2800" b="0" strike="noStrike" spc="-1">
                <a:solidFill>
                  <a:srgbClr val="FF0000"/>
                </a:solidFill>
                <a:latin typeface="Arial"/>
              </a:rPr>
              <a:t>logic layer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of the software</a:t>
            </a:r>
            <a:r>
              <a:rPr lang="en-US" sz="2800" b="0" strike="noStrike" spc="18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architecture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object 2"/>
          <p:cNvSpPr txBox="1"/>
          <p:nvPr/>
        </p:nvSpPr>
        <p:spPr>
          <a:xfrm>
            <a:off x="916200" y="372240"/>
            <a:ext cx="22467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API</a:t>
            </a:r>
            <a:r>
              <a:rPr lang="en-US" sz="3200" b="1" strike="noStrike" spc="-12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21">
                <a:solidFill>
                  <a:srgbClr val="E20512"/>
                </a:solidFill>
                <a:latin typeface="Arial"/>
              </a:rPr>
              <a:t>Testing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7" name="object 3"/>
          <p:cNvSpPr/>
          <p:nvPr/>
        </p:nvSpPr>
        <p:spPr>
          <a:xfrm>
            <a:off x="1987560" y="2038320"/>
            <a:ext cx="7367040" cy="28609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8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D4A9-F612-408B-DCCF-3E27D294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94" y="2641680"/>
            <a:ext cx="6354181" cy="861480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  <a:cs typeface="Arial"/>
              </a:rPr>
            </a:br>
            <a:r>
              <a:rPr lang="en-US" dirty="0">
                <a:solidFill>
                  <a:schemeClr val="bg1"/>
                </a:solidFill>
                <a:cs typeface="Arial"/>
              </a:rPr>
              <a:t>2. Why we do API tests?</a:t>
            </a:r>
          </a:p>
          <a:p>
            <a:endParaRPr lang="en-US" dirty="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20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object 2"/>
          <p:cNvSpPr txBox="1"/>
          <p:nvPr/>
        </p:nvSpPr>
        <p:spPr>
          <a:xfrm>
            <a:off x="916200" y="372240"/>
            <a:ext cx="41868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-32">
                <a:solidFill>
                  <a:srgbClr val="E20512"/>
                </a:solidFill>
                <a:latin typeface="Arial"/>
              </a:rPr>
              <a:t>Why </a:t>
            </a:r>
            <a:r>
              <a:rPr lang="en-US" sz="3200" b="1" strike="noStrike" spc="-80">
                <a:solidFill>
                  <a:srgbClr val="E20512"/>
                </a:solidFill>
                <a:latin typeface="Arial"/>
              </a:rPr>
              <a:t>We </a:t>
            </a:r>
            <a:r>
              <a:rPr lang="en-US" sz="3200" b="1" strike="noStrike" spc="18">
                <a:solidFill>
                  <a:srgbClr val="E20512"/>
                </a:solidFill>
                <a:latin typeface="Arial"/>
              </a:rPr>
              <a:t>Do 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API</a:t>
            </a:r>
            <a:r>
              <a:rPr lang="en-US" sz="3200" b="1" strike="noStrike" spc="-52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26">
                <a:solidFill>
                  <a:srgbClr val="E20512"/>
                </a:solidFill>
                <a:latin typeface="Arial"/>
              </a:rPr>
              <a:t>Tests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object 3"/>
          <p:cNvSpPr/>
          <p:nvPr/>
        </p:nvSpPr>
        <p:spPr>
          <a:xfrm>
            <a:off x="917640" y="1472400"/>
            <a:ext cx="6057720" cy="39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>
            <a:spAutoFit/>
          </a:bodyPr>
          <a:lstStyle/>
          <a:p>
            <a:pPr marL="298440" indent="-286200">
              <a:lnSpc>
                <a:spcPct val="100000"/>
              </a:lnSpc>
              <a:spcBef>
                <a:spcPts val="125"/>
              </a:spcBef>
              <a:buClr>
                <a:srgbClr val="E20512"/>
              </a:buClr>
              <a:buSzPct val="122000"/>
              <a:buFont typeface="Symbol" charset="2"/>
              <a:buChar char=""/>
              <a:tabLst>
                <a:tab pos="299160" algn="l"/>
              </a:tabLst>
            </a:pPr>
            <a:r>
              <a:rPr lang="en-US" sz="2750" b="0" strike="noStrike" spc="-15">
                <a:solidFill>
                  <a:srgbClr val="313131"/>
                </a:solidFill>
                <a:latin typeface="Arial"/>
              </a:rPr>
              <a:t>Identifies </a:t>
            </a:r>
            <a:r>
              <a:rPr lang="en-US" sz="2750" b="0" strike="noStrike" spc="29">
                <a:solidFill>
                  <a:srgbClr val="313131"/>
                </a:solidFill>
                <a:latin typeface="Arial"/>
              </a:rPr>
              <a:t>bugs </a:t>
            </a:r>
            <a:r>
              <a:rPr lang="en-US" sz="2750" b="0" strike="noStrike" spc="4">
                <a:solidFill>
                  <a:srgbClr val="313131"/>
                </a:solidFill>
                <a:latin typeface="Arial"/>
              </a:rPr>
              <a:t>before </a:t>
            </a:r>
            <a:r>
              <a:rPr lang="en-US" sz="2750" b="0" strike="noStrike" spc="-46">
                <a:solidFill>
                  <a:srgbClr val="313131"/>
                </a:solidFill>
                <a:latin typeface="Arial"/>
              </a:rPr>
              <a:t>it </a:t>
            </a:r>
            <a:r>
              <a:rPr lang="en-US" sz="2750" b="0" strike="noStrike" spc="12">
                <a:solidFill>
                  <a:srgbClr val="313131"/>
                </a:solidFill>
                <a:latin typeface="Arial"/>
              </a:rPr>
              <a:t>goes </a:t>
            </a:r>
            <a:r>
              <a:rPr lang="en-US" sz="2750" b="0" strike="noStrike" spc="-7">
                <a:solidFill>
                  <a:srgbClr val="313131"/>
                </a:solidFill>
                <a:latin typeface="Arial"/>
              </a:rPr>
              <a:t>to</a:t>
            </a:r>
            <a:r>
              <a:rPr lang="en-US" sz="2750" b="0" strike="noStrike" spc="-137">
                <a:solidFill>
                  <a:srgbClr val="313131"/>
                </a:solidFill>
                <a:latin typeface="Arial"/>
              </a:rPr>
              <a:t> </a:t>
            </a:r>
            <a:r>
              <a:rPr lang="en-US" sz="2750" b="0" strike="noStrike" spc="18">
                <a:solidFill>
                  <a:srgbClr val="313131"/>
                </a:solidFill>
                <a:latin typeface="Arial"/>
              </a:rPr>
              <a:t>UI</a:t>
            </a:r>
            <a:endParaRPr lang="en-US" sz="275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tabLst>
                <a:tab pos="299160" algn="l"/>
              </a:tabLst>
            </a:pPr>
            <a:endParaRPr lang="en-US" sz="2750" b="0" strike="noStrike" spc="-1">
              <a:latin typeface="Arial"/>
            </a:endParaRPr>
          </a:p>
          <a:p>
            <a:pPr marL="298440" indent="-286200">
              <a:lnSpc>
                <a:spcPts val="2999"/>
              </a:lnSpc>
              <a:buClr>
                <a:srgbClr val="E20512"/>
              </a:buClr>
              <a:buSzPct val="122000"/>
              <a:buFont typeface="Arial"/>
              <a:buChar char="•"/>
              <a:tabLst>
                <a:tab pos="299160" algn="l"/>
                <a:tab pos="1755720" algn="l"/>
              </a:tabLst>
            </a:pPr>
            <a:r>
              <a:rPr lang="en-US" sz="2750" b="0" strike="noStrike" spc="-32">
                <a:solidFill>
                  <a:srgbClr val="313131"/>
                </a:solidFill>
                <a:latin typeface="Arial"/>
              </a:rPr>
              <a:t>Effective	</a:t>
            </a:r>
            <a:r>
              <a:rPr lang="en-US" sz="2750" b="0" strike="noStrike" spc="-21">
                <a:solidFill>
                  <a:srgbClr val="313131"/>
                </a:solidFill>
                <a:latin typeface="Arial"/>
              </a:rPr>
              <a:t>testing </a:t>
            </a:r>
            <a:r>
              <a:rPr lang="en-US" sz="2750" b="0" strike="noStrike" spc="-12">
                <a:solidFill>
                  <a:srgbClr val="313131"/>
                </a:solidFill>
                <a:latin typeface="Arial"/>
              </a:rPr>
              <a:t>at </a:t>
            </a:r>
            <a:r>
              <a:rPr lang="en-US" sz="2750" b="0" strike="noStrike" spc="12">
                <a:solidFill>
                  <a:srgbClr val="313131"/>
                </a:solidFill>
                <a:latin typeface="Arial"/>
              </a:rPr>
              <a:t>a </a:t>
            </a:r>
            <a:r>
              <a:rPr lang="en-US" sz="2750" b="0" strike="noStrike" spc="-12">
                <a:solidFill>
                  <a:srgbClr val="313131"/>
                </a:solidFill>
                <a:latin typeface="Arial"/>
              </a:rPr>
              <a:t>lower </a:t>
            </a:r>
            <a:r>
              <a:rPr lang="en-US" sz="2750" b="0" strike="noStrike" spc="-35">
                <a:solidFill>
                  <a:srgbClr val="313131"/>
                </a:solidFill>
                <a:latin typeface="Arial"/>
              </a:rPr>
              <a:t>level </a:t>
            </a:r>
            <a:r>
              <a:rPr lang="en-US" sz="2750" b="0" strike="noStrike" spc="-21">
                <a:solidFill>
                  <a:srgbClr val="313131"/>
                </a:solidFill>
                <a:latin typeface="Arial"/>
              </a:rPr>
              <a:t>over  </a:t>
            </a:r>
            <a:r>
              <a:rPr lang="en-US" sz="2750" b="0" strike="noStrike" spc="-12">
                <a:solidFill>
                  <a:srgbClr val="313131"/>
                </a:solidFill>
                <a:latin typeface="Arial"/>
              </a:rPr>
              <a:t>high-level</a:t>
            </a:r>
            <a:endParaRPr lang="en-US" sz="275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tabLst>
                <a:tab pos="299160" algn="l"/>
                <a:tab pos="1755720" algn="l"/>
              </a:tabLst>
            </a:pPr>
            <a:endParaRPr lang="en-US" sz="275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spcBef>
                <a:spcPts val="6"/>
              </a:spcBef>
              <a:buClr>
                <a:srgbClr val="E20512"/>
              </a:buClr>
              <a:buSzPct val="122000"/>
              <a:buFont typeface="Arial"/>
              <a:buChar char="•"/>
              <a:tabLst>
                <a:tab pos="299160" algn="l"/>
              </a:tabLst>
            </a:pPr>
            <a:r>
              <a:rPr lang="en-US" sz="2750" b="0" strike="noStrike" spc="12">
                <a:solidFill>
                  <a:srgbClr val="313131"/>
                </a:solidFill>
                <a:latin typeface="Arial"/>
              </a:rPr>
              <a:t>Reduces </a:t>
            </a:r>
            <a:r>
              <a:rPr lang="en-US" sz="2750" b="0" strike="noStrike" spc="4">
                <a:solidFill>
                  <a:srgbClr val="313131"/>
                </a:solidFill>
                <a:latin typeface="Arial"/>
              </a:rPr>
              <a:t>future </a:t>
            </a:r>
            <a:r>
              <a:rPr lang="en-US" sz="2750" b="0" strike="noStrike" spc="-21">
                <a:solidFill>
                  <a:srgbClr val="313131"/>
                </a:solidFill>
                <a:latin typeface="Arial"/>
              </a:rPr>
              <a:t>efforts </a:t>
            </a:r>
            <a:r>
              <a:rPr lang="en-US" sz="2750" b="0" strike="noStrike" spc="-1">
                <a:solidFill>
                  <a:srgbClr val="313131"/>
                </a:solidFill>
                <a:latin typeface="Arial"/>
              </a:rPr>
              <a:t>to </a:t>
            </a:r>
            <a:r>
              <a:rPr lang="en-US" sz="2750" b="0" strike="noStrike" spc="-32">
                <a:solidFill>
                  <a:srgbClr val="313131"/>
                </a:solidFill>
                <a:latin typeface="Arial"/>
              </a:rPr>
              <a:t>fix</a:t>
            </a:r>
            <a:r>
              <a:rPr lang="en-US" sz="2750" b="0" strike="noStrike" spc="582">
                <a:solidFill>
                  <a:srgbClr val="313131"/>
                </a:solidFill>
                <a:latin typeface="Arial"/>
              </a:rPr>
              <a:t> </a:t>
            </a:r>
            <a:r>
              <a:rPr lang="en-US" sz="2750" b="0" strike="noStrike" spc="-1">
                <a:solidFill>
                  <a:srgbClr val="313131"/>
                </a:solidFill>
                <a:latin typeface="Arial"/>
              </a:rPr>
              <a:t>defects</a:t>
            </a:r>
            <a:endParaRPr lang="en-US" sz="275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299160" algn="l"/>
              </a:tabLst>
            </a:pPr>
            <a:endParaRPr lang="en-US" sz="275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buClr>
                <a:srgbClr val="E20512"/>
              </a:buClr>
              <a:buSzPct val="122000"/>
              <a:buFont typeface="Arial"/>
              <a:buChar char="•"/>
              <a:tabLst>
                <a:tab pos="299160" algn="l"/>
              </a:tabLst>
            </a:pPr>
            <a:r>
              <a:rPr lang="en-US" sz="2750" b="0" strike="noStrike" spc="-21">
                <a:solidFill>
                  <a:srgbClr val="313131"/>
                </a:solidFill>
                <a:latin typeface="Arial"/>
              </a:rPr>
              <a:t>Time-saving</a:t>
            </a:r>
            <a:endParaRPr lang="en-US" sz="2750" b="0" strike="noStrike" spc="-1">
              <a:latin typeface="Arial"/>
            </a:endParaRPr>
          </a:p>
        </p:txBody>
      </p:sp>
      <p:sp>
        <p:nvSpPr>
          <p:cNvPr id="321" name="object 4"/>
          <p:cNvSpPr/>
          <p:nvPr/>
        </p:nvSpPr>
        <p:spPr>
          <a:xfrm>
            <a:off x="7256160" y="1665720"/>
            <a:ext cx="4365000" cy="35658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2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object 2"/>
          <p:cNvSpPr txBox="1"/>
          <p:nvPr/>
        </p:nvSpPr>
        <p:spPr>
          <a:xfrm>
            <a:off x="915840" y="377640"/>
            <a:ext cx="34408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What is REST</a:t>
            </a:r>
            <a:r>
              <a:rPr lang="en-US" sz="3200" b="1" strike="noStrike" spc="-242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API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object 3"/>
          <p:cNvSpPr/>
          <p:nvPr/>
        </p:nvSpPr>
        <p:spPr>
          <a:xfrm>
            <a:off x="916920" y="1339920"/>
            <a:ext cx="9570960" cy="20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REST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is acronym for </a:t>
            </a:r>
            <a:r>
              <a:rPr lang="en-US" sz="2800" b="1" strike="noStrike" spc="-7">
                <a:solidFill>
                  <a:srgbClr val="FF0000"/>
                </a:solidFill>
                <a:latin typeface="Arial"/>
              </a:rPr>
              <a:t>RE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presentational </a:t>
            </a:r>
            <a:r>
              <a:rPr lang="en-US" sz="2800" b="1" strike="noStrike" spc="-7">
                <a:solidFill>
                  <a:srgbClr val="FF0000"/>
                </a:solidFill>
                <a:latin typeface="Arial"/>
              </a:rPr>
              <a:t>S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tate</a:t>
            </a:r>
            <a:r>
              <a:rPr lang="en-US" sz="2800" b="0" strike="noStrike" spc="77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1" strike="noStrike" spc="-7">
                <a:solidFill>
                  <a:srgbClr val="FF0000"/>
                </a:solidFill>
                <a:latin typeface="Arial"/>
              </a:rPr>
              <a:t>T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ransfer</a:t>
            </a:r>
            <a:endParaRPr lang="en-US" sz="2800" b="0" strike="noStrike" spc="-1">
              <a:latin typeface="Arial"/>
            </a:endParaRPr>
          </a:p>
          <a:p>
            <a:pPr marL="340200" indent="-327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It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referred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to as RESTful </a:t>
            </a: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API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or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RESTful web</a:t>
            </a:r>
            <a:r>
              <a:rPr lang="en-US" sz="2800" b="0" strike="noStrike" spc="-80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service</a:t>
            </a:r>
            <a:endParaRPr lang="en-US" sz="2800" b="0" strike="noStrike" spc="-1">
              <a:latin typeface="Arial"/>
            </a:endParaRPr>
          </a:p>
          <a:p>
            <a:pPr marL="241200" indent="-228960">
              <a:lnSpc>
                <a:spcPct val="100000"/>
              </a:lnSpc>
              <a:spcBef>
                <a:spcPts val="100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It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is an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application program interface </a:t>
            </a:r>
            <a:r>
              <a:rPr lang="en-US" sz="2800" b="0" strike="noStrike" spc="4">
                <a:solidFill>
                  <a:srgbClr val="313131"/>
                </a:solidFill>
                <a:latin typeface="Arial"/>
              </a:rPr>
              <a:t>(</a:t>
            </a:r>
            <a:r>
              <a:rPr lang="en-US" sz="2800" b="0" u="heavy" strike="noStrike" spc="4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/>
                <a:hlinkClick r:id="rId2"/>
              </a:rPr>
              <a:t>API</a:t>
            </a:r>
            <a:r>
              <a:rPr lang="en-US" sz="2800" b="0" strike="noStrike" spc="4">
                <a:solidFill>
                  <a:srgbClr val="313131"/>
                </a:solidFill>
                <a:latin typeface="Arial"/>
              </a:rPr>
              <a:t>)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that uses </a:t>
            </a: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HTTP 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requests to </a:t>
            </a:r>
            <a:r>
              <a:rPr lang="en-US" sz="2800" b="0" strike="noStrike" spc="-86">
                <a:solidFill>
                  <a:srgbClr val="313131"/>
                </a:solidFill>
                <a:latin typeface="Arial"/>
              </a:rPr>
              <a:t>GET, PUT, </a:t>
            </a: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POST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and DELETE</a:t>
            </a:r>
            <a:r>
              <a:rPr lang="en-US" sz="2800" b="0" strike="noStrike" spc="168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data.</a:t>
            </a:r>
            <a:endParaRPr lang="en-US" sz="2800" b="0" strike="noStrike" spc="-1">
              <a:latin typeface="Arial"/>
            </a:endParaRPr>
          </a:p>
        </p:txBody>
      </p:sp>
      <p:sp>
        <p:nvSpPr>
          <p:cNvPr id="325" name="object 4"/>
          <p:cNvSpPr/>
          <p:nvPr/>
        </p:nvSpPr>
        <p:spPr>
          <a:xfrm>
            <a:off x="1098720" y="3765960"/>
            <a:ext cx="6673320" cy="26895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Concepts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object 3"/>
          <p:cNvSpPr/>
          <p:nvPr/>
        </p:nvSpPr>
        <p:spPr>
          <a:xfrm>
            <a:off x="916920" y="1339920"/>
            <a:ext cx="9793080" cy="18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stands for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Hypertext </a:t>
            </a:r>
            <a:r>
              <a:rPr lang="en-US" sz="2800" b="0" strike="noStrike" spc="-21">
                <a:solidFill>
                  <a:srgbClr val="313131"/>
                </a:solidFill>
                <a:latin typeface="Arial"/>
              </a:rPr>
              <a:t>Transfer</a:t>
            </a:r>
            <a:r>
              <a:rPr lang="en-US" sz="2800" b="0" strike="noStrike" spc="-15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Protocol</a:t>
            </a:r>
            <a:endParaRPr lang="en-US" sz="2800" b="0" strike="noStrike" spc="-1">
              <a:latin typeface="Arial"/>
            </a:endParaRPr>
          </a:p>
          <a:p>
            <a:pPr marL="241200" indent="-228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1" i="1" strike="noStrike" spc="-12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800" b="1" i="1" strike="noStrike" spc="-7">
                <a:solidFill>
                  <a:srgbClr val="313131"/>
                </a:solidFill>
                <a:latin typeface="Arial"/>
              </a:rPr>
              <a:t>Request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is a packet of information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that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one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computer 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sends to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another computer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to communicate</a:t>
            </a:r>
            <a:r>
              <a:rPr lang="en-US" sz="2800" b="0" strike="noStrike" spc="52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something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Concepts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object 3"/>
          <p:cNvSpPr/>
          <p:nvPr/>
        </p:nvSpPr>
        <p:spPr>
          <a:xfrm>
            <a:off x="916920" y="1310760"/>
            <a:ext cx="8368200" cy="327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71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1" strike="noStrike" spc="-12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800" b="1" strike="noStrike" spc="-7">
                <a:solidFill>
                  <a:srgbClr val="313131"/>
                </a:solidFill>
                <a:latin typeface="Arial"/>
              </a:rPr>
              <a:t>Request</a:t>
            </a:r>
            <a:r>
              <a:rPr lang="en-US" sz="2800" b="1" strike="noStrike" spc="-1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1" strike="noStrike" spc="-7">
                <a:solidFill>
                  <a:srgbClr val="313131"/>
                </a:solidFill>
                <a:latin typeface="Arial"/>
              </a:rPr>
              <a:t>Structure</a:t>
            </a:r>
            <a:endParaRPr lang="en-US" sz="2800" b="0" strike="noStrike" spc="-1">
              <a:latin typeface="Arial"/>
            </a:endParaRPr>
          </a:p>
          <a:p>
            <a:pPr marL="782280" lvl="1" indent="-31284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Carlito"/>
              <a:buChar char="-"/>
              <a:tabLst>
                <a:tab pos="782280" algn="l"/>
                <a:tab pos="78300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400" b="0" strike="noStrike" spc="-32">
                <a:solidFill>
                  <a:srgbClr val="FF0000"/>
                </a:solidFill>
                <a:latin typeface="Arial"/>
              </a:rPr>
              <a:t>Verbs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: </a:t>
            </a:r>
            <a:r>
              <a:rPr lang="en-US" sz="2400" b="0" strike="noStrike" spc="-66">
                <a:solidFill>
                  <a:srgbClr val="313131"/>
                </a:solidFill>
                <a:latin typeface="Arial"/>
              </a:rPr>
              <a:t>GET, </a:t>
            </a:r>
            <a:r>
              <a:rPr lang="en-US" sz="2400" b="0" strike="noStrike" spc="-55">
                <a:solidFill>
                  <a:srgbClr val="313131"/>
                </a:solidFill>
                <a:latin typeface="Arial"/>
              </a:rPr>
              <a:t>POST, </a:t>
            </a:r>
            <a:r>
              <a:rPr lang="en-US" sz="2400" b="0" strike="noStrike" spc="-72">
                <a:solidFill>
                  <a:srgbClr val="313131"/>
                </a:solidFill>
                <a:latin typeface="Arial"/>
              </a:rPr>
              <a:t>PUT,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DELETE</a:t>
            </a:r>
            <a:r>
              <a:rPr lang="en-US" sz="2400" b="0" strike="noStrike" spc="148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…</a:t>
            </a:r>
            <a:endParaRPr lang="en-US" sz="2400" b="0" strike="noStrike" spc="-1">
              <a:latin typeface="Arial"/>
            </a:endParaRPr>
          </a:p>
          <a:p>
            <a:pPr marL="765720" lvl="1" indent="-2955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765000" algn="l"/>
                <a:tab pos="765720" algn="l"/>
              </a:tabLst>
            </a:pP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A set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of HTTP</a:t>
            </a:r>
            <a:r>
              <a:rPr lang="en-US" sz="2400" b="0" strike="noStrike" spc="-185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Headers</a:t>
            </a:r>
            <a:endParaRPr lang="en-US" sz="2400" b="0" strike="noStrike" spc="-1">
              <a:latin typeface="Arial"/>
            </a:endParaRPr>
          </a:p>
          <a:p>
            <a:pPr marL="1155600" lvl="2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Symbol" charset="2"/>
              <a:buChar char=""/>
              <a:tabLst>
                <a:tab pos="1155600" algn="l"/>
                <a:tab pos="1156320" algn="l"/>
              </a:tabLst>
            </a:pPr>
            <a:r>
              <a:rPr lang="en-US" sz="2000" b="0" strike="noStrike" spc="-7">
                <a:solidFill>
                  <a:srgbClr val="313131"/>
                </a:solidFill>
                <a:latin typeface="Arial"/>
              </a:rPr>
              <a:t>type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of</a:t>
            </a:r>
            <a:r>
              <a:rPr lang="en-US" sz="2000" b="0" strike="noStrike" spc="-3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Browser</a:t>
            </a:r>
            <a:endParaRPr lang="en-US" sz="2000" b="0" strike="noStrike" spc="-1">
              <a:latin typeface="Arial"/>
            </a:endParaRPr>
          </a:p>
          <a:p>
            <a:pPr marL="1155600" lvl="2" indent="-22896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Symbol" charset="2"/>
              <a:buChar char=""/>
              <a:tabLst>
                <a:tab pos="1155600" algn="l"/>
                <a:tab pos="1156320" algn="l"/>
              </a:tabLst>
            </a:pPr>
            <a:r>
              <a:rPr lang="en-US" sz="2000" b="0" strike="noStrike" spc="-7">
                <a:solidFill>
                  <a:srgbClr val="313131"/>
                </a:solidFill>
                <a:latin typeface="Arial"/>
              </a:rPr>
              <a:t>type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of</a:t>
            </a:r>
            <a:r>
              <a:rPr lang="en-US" sz="2000" b="0" strike="noStrike" spc="-26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content</a:t>
            </a:r>
            <a:endParaRPr lang="en-US" sz="2000" b="0" strike="noStrike" spc="-1">
              <a:latin typeface="Arial"/>
            </a:endParaRPr>
          </a:p>
          <a:p>
            <a:pPr marL="1155600" lvl="2" indent="-228960">
              <a:lnSpc>
                <a:spcPct val="100000"/>
              </a:lnSpc>
              <a:spcBef>
                <a:spcPts val="490"/>
              </a:spcBef>
              <a:buClr>
                <a:srgbClr val="566BE2"/>
              </a:buClr>
              <a:buFont typeface="Symbol" charset="2"/>
              <a:buChar char=""/>
              <a:tabLst>
                <a:tab pos="1155600" algn="l"/>
                <a:tab pos="1156320" algn="l"/>
              </a:tabLst>
            </a:pP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what </a:t>
            </a:r>
            <a:r>
              <a:rPr lang="en-US" sz="2000" b="0" strike="noStrike" spc="-7">
                <a:solidFill>
                  <a:srgbClr val="313131"/>
                </a:solidFill>
                <a:latin typeface="Arial"/>
              </a:rPr>
              <a:t>type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of response is accepted in</a:t>
            </a:r>
            <a:r>
              <a:rPr lang="en-US" sz="2000" b="0" strike="noStrike" spc="-120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return</a:t>
            </a:r>
            <a:endParaRPr lang="en-US" sz="2000" b="0" strike="noStrike" spc="-1">
              <a:latin typeface="Arial"/>
            </a:endParaRPr>
          </a:p>
          <a:p>
            <a:pPr marL="765720" lvl="1" indent="-295560">
              <a:lnSpc>
                <a:spcPct val="100000"/>
              </a:lnSpc>
              <a:spcBef>
                <a:spcPts val="499"/>
              </a:spcBef>
              <a:buClr>
                <a:srgbClr val="566BE2"/>
              </a:buClr>
              <a:buFont typeface="Carlito"/>
              <a:buChar char="-"/>
              <a:tabLst>
                <a:tab pos="765000" algn="l"/>
                <a:tab pos="765720" algn="l"/>
              </a:tabLst>
            </a:pP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A </a:t>
            </a:r>
            <a:r>
              <a:rPr lang="en-US" sz="2400" b="0" strike="noStrike" spc="-7">
                <a:solidFill>
                  <a:srgbClr val="FF0000"/>
                </a:solidFill>
                <a:latin typeface="Arial"/>
              </a:rPr>
              <a:t>body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or</a:t>
            </a:r>
            <a:r>
              <a:rPr lang="en-US" sz="2400" b="0" strike="noStrike" spc="-126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E20512"/>
                </a:solidFill>
                <a:latin typeface="Arial"/>
              </a:rPr>
              <a:t>payload</a:t>
            </a:r>
            <a:endParaRPr lang="en-US" sz="2400" b="0" strike="noStrike" spc="-1">
              <a:latin typeface="Arial"/>
            </a:endParaRPr>
          </a:p>
          <a:p>
            <a:pPr marL="1225440" lvl="2" indent="-29880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Symbol" charset="2"/>
              <a:buChar char=""/>
              <a:tabLst>
                <a:tab pos="1225440" algn="l"/>
                <a:tab pos="1226160" algn="l"/>
              </a:tabLst>
            </a:pPr>
            <a:r>
              <a:rPr lang="en-US" sz="2000" b="0" strike="noStrike" spc="-7">
                <a:solidFill>
                  <a:srgbClr val="313131"/>
                </a:solidFill>
                <a:latin typeface="Arial"/>
              </a:rPr>
              <a:t>POST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and PUT can have payloads, GET and DELETE can</a:t>
            </a:r>
            <a:r>
              <a:rPr lang="en-US" sz="2000" b="0" strike="noStrike" spc="-24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not.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Concepts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1" name="object 3"/>
          <p:cNvSpPr/>
          <p:nvPr/>
        </p:nvSpPr>
        <p:spPr>
          <a:xfrm>
            <a:off x="916920" y="1386000"/>
            <a:ext cx="10213560" cy="86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>
            <a:spAutoFit/>
          </a:bodyPr>
          <a:lstStyle/>
          <a:p>
            <a:pPr marL="241200" indent="-228960">
              <a:lnSpc>
                <a:spcPct val="100000"/>
              </a:lnSpc>
              <a:spcBef>
                <a:spcPts val="9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1" i="1" strike="noStrike" spc="-12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800" b="1" i="1" strike="noStrike" spc="-7">
                <a:solidFill>
                  <a:srgbClr val="313131"/>
                </a:solidFill>
                <a:latin typeface="Arial"/>
              </a:rPr>
              <a:t>Response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is the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packet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information sent by </a:t>
            </a:r>
            <a:r>
              <a:rPr lang="en-US" sz="2800" b="0" i="1" strike="noStrike" spc="-7">
                <a:solidFill>
                  <a:srgbClr val="313131"/>
                </a:solidFill>
                <a:latin typeface="Arial"/>
              </a:rPr>
              <a:t>Server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to  the </a:t>
            </a:r>
            <a:r>
              <a:rPr lang="en-US" sz="2800" b="0" i="1" strike="noStrike" spc="-7">
                <a:solidFill>
                  <a:srgbClr val="313131"/>
                </a:solidFill>
                <a:latin typeface="Arial"/>
              </a:rPr>
              <a:t>Client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in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response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to an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earlier </a:t>
            </a:r>
            <a:r>
              <a:rPr lang="en-US" sz="2800" b="0" i="1" strike="noStrike" spc="-7">
                <a:solidFill>
                  <a:srgbClr val="313131"/>
                </a:solidFill>
                <a:latin typeface="Arial"/>
              </a:rPr>
              <a:t>Request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made by</a:t>
            </a:r>
            <a:r>
              <a:rPr lang="en-US" sz="2800" b="0" strike="noStrike" spc="180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i="1" strike="noStrike" spc="-7">
                <a:solidFill>
                  <a:srgbClr val="313131"/>
                </a:solidFill>
                <a:latin typeface="Arial"/>
              </a:rPr>
              <a:t>Client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object 2"/>
          <p:cNvSpPr/>
          <p:nvPr/>
        </p:nvSpPr>
        <p:spPr>
          <a:xfrm>
            <a:off x="1269360" y="2136240"/>
            <a:ext cx="4417200" cy="43815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3" name="object 3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Concepts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object 4"/>
          <p:cNvSpPr/>
          <p:nvPr/>
        </p:nvSpPr>
        <p:spPr>
          <a:xfrm>
            <a:off x="916920" y="1386000"/>
            <a:ext cx="4853520" cy="4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9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Example of </a:t>
            </a:r>
            <a:r>
              <a:rPr lang="en-US" sz="2800" b="0" strike="noStrike" spc="-12">
                <a:solidFill>
                  <a:srgbClr val="313131"/>
                </a:solidFill>
                <a:latin typeface="Arial"/>
              </a:rPr>
              <a:t>HTTP</a:t>
            </a:r>
            <a:r>
              <a:rPr lang="en-US" sz="2800" b="0" strike="noStrike" spc="-35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Response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Concepts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object 3"/>
          <p:cNvSpPr/>
          <p:nvPr/>
        </p:nvSpPr>
        <p:spPr>
          <a:xfrm>
            <a:off x="916920" y="1310760"/>
            <a:ext cx="8214480" cy="31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71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1" strike="noStrike" spc="-12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800" b="1" strike="noStrike" spc="-7">
                <a:solidFill>
                  <a:srgbClr val="313131"/>
                </a:solidFill>
                <a:latin typeface="Arial"/>
              </a:rPr>
              <a:t>Status</a:t>
            </a:r>
            <a:r>
              <a:rPr lang="en-US" sz="2800" b="1" strike="noStrike" spc="-21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1" strike="noStrike" spc="-12">
                <a:solidFill>
                  <a:srgbClr val="313131"/>
                </a:solidFill>
                <a:latin typeface="Arial"/>
              </a:rPr>
              <a:t>Codes</a:t>
            </a:r>
            <a:endParaRPr lang="en-US" sz="28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1xx -</a:t>
            </a:r>
            <a:r>
              <a:rPr lang="en-US" sz="2400" b="0" i="1" strike="noStrike" spc="-1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Informational</a:t>
            </a:r>
            <a:endParaRPr lang="en-US" sz="24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2xx -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Success </a:t>
            </a: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e.g.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200 Success</a:t>
            </a:r>
            <a:endParaRPr lang="en-US" sz="24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3xx -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Redirection </a:t>
            </a: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e.g.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302 </a:t>
            </a:r>
            <a:r>
              <a:rPr lang="en-US" sz="2400" b="0" i="1" strike="noStrike" spc="-32">
                <a:solidFill>
                  <a:srgbClr val="313131"/>
                </a:solidFill>
                <a:latin typeface="Arial"/>
              </a:rPr>
              <a:t>Temporary</a:t>
            </a:r>
            <a:r>
              <a:rPr lang="en-US" sz="2400" b="0" i="1" strike="noStrike" spc="29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Redirect</a:t>
            </a:r>
            <a:endParaRPr lang="en-US" sz="24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490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4xx -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Client </a:t>
            </a: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Error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e.g. 400 Bad Request, 404 Not</a:t>
            </a:r>
            <a:r>
              <a:rPr lang="en-US" sz="2400" b="0" i="1" strike="noStrike" spc="5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Found</a:t>
            </a:r>
            <a:endParaRPr lang="en-US" sz="24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5xx - </a:t>
            </a:r>
            <a:r>
              <a:rPr lang="en-US" sz="2400" b="0" i="1" strike="noStrike" spc="-7">
                <a:solidFill>
                  <a:srgbClr val="313131"/>
                </a:solidFill>
                <a:latin typeface="Arial"/>
              </a:rPr>
              <a:t>Server Error e.g. 500 Internal Server</a:t>
            </a:r>
            <a:r>
              <a:rPr lang="en-US" sz="2400" b="0" i="1" strike="noStrike" spc="43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i="1" strike="noStrike" spc="-1">
                <a:solidFill>
                  <a:srgbClr val="313131"/>
                </a:solidFill>
                <a:latin typeface="Arial"/>
              </a:rPr>
              <a:t>Error</a:t>
            </a:r>
            <a:endParaRPr lang="en-US" sz="2400" b="0" strike="noStrike" spc="-1">
              <a:latin typeface="Arial"/>
            </a:endParaRPr>
          </a:p>
          <a:p>
            <a:pPr marL="241200" indent="-228960">
              <a:lnSpc>
                <a:spcPct val="100000"/>
              </a:lnSpc>
              <a:spcBef>
                <a:spcPts val="44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1" i="1" strike="noStrike" spc="-7">
                <a:solidFill>
                  <a:srgbClr val="313131"/>
                </a:solidFill>
                <a:latin typeface="Arial"/>
              </a:rPr>
              <a:t>Payloads</a:t>
            </a:r>
            <a:r>
              <a:rPr lang="en-US" sz="2800" b="0" i="1" strike="noStrike" spc="-7">
                <a:solidFill>
                  <a:srgbClr val="313131"/>
                </a:solidFill>
                <a:latin typeface="Arial"/>
              </a:rPr>
              <a:t>: JSON or</a:t>
            </a:r>
            <a:r>
              <a:rPr lang="en-US" sz="2800" b="0" i="1" strike="noStrike" spc="18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i="1" strike="noStrike" spc="-7">
                <a:solidFill>
                  <a:srgbClr val="313131"/>
                </a:solidFill>
                <a:latin typeface="Arial"/>
              </a:rPr>
              <a:t>XML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Concepts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8" name="object 3"/>
          <p:cNvSpPr/>
          <p:nvPr/>
        </p:nvSpPr>
        <p:spPr>
          <a:xfrm>
            <a:off x="916920" y="1364760"/>
            <a:ext cx="4861800" cy="267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241200" indent="-228960">
              <a:lnSpc>
                <a:spcPts val="3929"/>
              </a:lnSpc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Public Request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(no</a:t>
            </a:r>
            <a:r>
              <a:rPr lang="en-US" sz="2800" b="0" strike="noStrike" spc="38">
                <a:solidFill>
                  <a:srgbClr val="313131"/>
                </a:solidFill>
                <a:latin typeface="Arial"/>
              </a:rPr>
              <a:t> </a:t>
            </a:r>
            <a:r>
              <a:rPr lang="en-US" sz="2800" b="0" strike="noStrike" spc="-1">
                <a:solidFill>
                  <a:srgbClr val="313131"/>
                </a:solidFill>
                <a:latin typeface="Arial"/>
              </a:rPr>
              <a:t>auth)</a:t>
            </a:r>
            <a:endParaRPr lang="en-US" sz="2800" b="0" strike="noStrike" spc="-1">
              <a:latin typeface="Arial"/>
            </a:endParaRPr>
          </a:p>
          <a:p>
            <a:pPr marL="241200" indent="-228960">
              <a:lnSpc>
                <a:spcPct val="100000"/>
              </a:lnSpc>
              <a:spcBef>
                <a:spcPts val="334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/>
              </a:rPr>
              <a:t>Authentication</a:t>
            </a:r>
            <a:endParaRPr lang="en-US" sz="28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408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Basic Authentication</a:t>
            </a:r>
            <a:r>
              <a:rPr lang="en-US" sz="2400" b="0" strike="noStrike" spc="-106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Headers</a:t>
            </a:r>
            <a:endParaRPr lang="en-US" sz="24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496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Bearer Authentication</a:t>
            </a:r>
            <a:r>
              <a:rPr lang="en-US" sz="2400" b="0" strike="noStrike" spc="-120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Headers</a:t>
            </a:r>
            <a:endParaRPr lang="en-US" sz="24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Custom</a:t>
            </a:r>
            <a:r>
              <a:rPr lang="en-US" sz="2400" b="0" strike="noStrike" spc="-55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Headers</a:t>
            </a:r>
            <a:endParaRPr lang="en-US" sz="2400" b="0" strike="noStrike" spc="-1">
              <a:latin typeface="Arial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Session</a:t>
            </a:r>
            <a:r>
              <a:rPr lang="en-US" sz="2400" b="0" strike="noStrike" spc="-5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Cookies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339" name="object 4"/>
          <p:cNvSpPr/>
          <p:nvPr/>
        </p:nvSpPr>
        <p:spPr>
          <a:xfrm>
            <a:off x="1068120" y="4911480"/>
            <a:ext cx="6671520" cy="342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0" name="object 5"/>
          <p:cNvSpPr/>
          <p:nvPr/>
        </p:nvSpPr>
        <p:spPr>
          <a:xfrm>
            <a:off x="1076760" y="5576760"/>
            <a:ext cx="6729840" cy="3837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D4A9-F612-408B-DCCF-3E27D294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94" y="2641680"/>
            <a:ext cx="7001162" cy="86148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/>
              </a:rPr>
              <a:t>3. API test with </a:t>
            </a:r>
            <a:r>
              <a:rPr lang="en-US" dirty="0" err="1">
                <a:solidFill>
                  <a:schemeClr val="bg1"/>
                </a:solidFill>
                <a:cs typeface="Arial"/>
              </a:rPr>
              <a:t>RestSharp</a:t>
            </a:r>
            <a:r>
              <a:rPr lang="en-US" dirty="0">
                <a:solidFill>
                  <a:schemeClr val="bg1"/>
                </a:solidFill>
                <a:cs typeface="Arial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7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77160" y="372240"/>
            <a:ext cx="10043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noAutofit/>
          </a:bodyPr>
          <a:lstStyle/>
          <a:p>
            <a:r>
              <a:rPr lang="en-US" sz="3200" b="1" spc="4" dirty="0">
                <a:solidFill>
                  <a:srgbClr val="E20512"/>
                </a:solidFill>
                <a:latin typeface="Arial"/>
                <a:cs typeface="Arial"/>
              </a:rPr>
              <a:t>Dotnet basic command</a:t>
            </a:r>
          </a:p>
          <a:p>
            <a:pPr marL="12065">
              <a:lnSpc>
                <a:spcPct val="100000"/>
              </a:lnSpc>
              <a:spcBef>
                <a:spcPts val="130"/>
              </a:spcBef>
            </a:pPr>
            <a:endParaRPr lang="en-US" sz="3200" b="1" strike="noStrike" spc="4" dirty="0">
              <a:solidFill>
                <a:srgbClr val="E20512"/>
              </a:solidFill>
              <a:latin typeface="Arial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77040" y="1035720"/>
            <a:ext cx="9814680" cy="541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 anchor="t"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Show list supported templates</a:t>
            </a: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new list </a:t>
            </a:r>
            <a:endParaRPr lang="en-US"/>
          </a:p>
          <a:p>
            <a:endParaRPr lang="en-US" sz="2400" spc="-52" dirty="0">
              <a:solidFill>
                <a:srgbClr val="313131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en-US" sz="2400" spc="-52" dirty="0">
                <a:solidFill>
                  <a:srgbClr val="313131"/>
                </a:solidFill>
                <a:cs typeface="Arial"/>
              </a:rPr>
              <a:t>Create a project by template</a:t>
            </a: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new 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nunit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 --name "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TestDemo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" --framework net8.0</a:t>
            </a:r>
            <a:endParaRPr lang="en-US" sz="2400" spc="-52" dirty="0">
              <a:solidFill>
                <a:srgbClr val="313131"/>
              </a:solidFill>
              <a:cs typeface="Arial"/>
            </a:endParaRP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new 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classlib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 --name "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Test.Core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" --framework net8.0</a:t>
            </a:r>
            <a:endParaRPr lang="en-US" dirty="0"/>
          </a:p>
          <a:p>
            <a:endParaRPr lang="en-US" sz="2400" spc="-52" dirty="0">
              <a:solidFill>
                <a:srgbClr val="313131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en-US" sz="2400" spc="-52" dirty="0">
                <a:solidFill>
                  <a:srgbClr val="313131"/>
                </a:solidFill>
                <a:cs typeface="Arial"/>
              </a:rPr>
              <a:t>Add a project reference</a:t>
            </a: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add Testing/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Testing.csproj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 reference Core/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Core.csproj</a:t>
            </a:r>
            <a:endParaRPr lang="en-US" dirty="0" err="1"/>
          </a:p>
          <a:p>
            <a:endParaRPr lang="en-US" sz="2400" spc="-52" dirty="0">
              <a:solidFill>
                <a:srgbClr val="313131"/>
              </a:solidFill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2400" dirty="0">
                <a:solidFill>
                  <a:srgbClr val="313131"/>
                </a:solidFill>
                <a:cs typeface="Arial"/>
              </a:rPr>
              <a:t>Run test</a:t>
            </a:r>
          </a:p>
          <a:p>
            <a:r>
              <a:rPr lang="en-US" sz="2400" dirty="0">
                <a:solidFill>
                  <a:srgbClr val="313131"/>
                </a:solidFill>
                <a:cs typeface="Arial"/>
              </a:rPr>
              <a:t>dotnet test</a:t>
            </a:r>
          </a:p>
          <a:p>
            <a:pPr marL="285750" indent="-285750">
              <a:buFont typeface="Calibri"/>
              <a:buChar char="-"/>
            </a:pPr>
            <a:endParaRPr lang="en-US" dirty="0">
              <a:solidFill>
                <a:srgbClr val="313131"/>
              </a:solidFill>
              <a:cs typeface="Arial"/>
            </a:endParaRPr>
          </a:p>
          <a:p>
            <a:endParaRPr lang="en-US">
              <a:solidFill>
                <a:srgbClr val="000000"/>
              </a:solidFill>
              <a:cs typeface="Arial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3234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77160" y="372240"/>
            <a:ext cx="10043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noAutofit/>
          </a:bodyPr>
          <a:lstStyle/>
          <a:p>
            <a:r>
              <a:rPr lang="en-US" sz="3200" b="1" spc="4" dirty="0">
                <a:solidFill>
                  <a:srgbClr val="E20512"/>
                </a:solidFill>
                <a:latin typeface="Arial"/>
                <a:cs typeface="Arial"/>
              </a:rPr>
              <a:t>API test with </a:t>
            </a:r>
            <a:r>
              <a:rPr lang="en-US" sz="3200" b="1" spc="4" dirty="0" err="1">
                <a:solidFill>
                  <a:srgbClr val="E20512"/>
                </a:solidFill>
                <a:latin typeface="Arial"/>
                <a:cs typeface="Arial"/>
              </a:rPr>
              <a:t>RestSharp</a:t>
            </a:r>
            <a:r>
              <a:rPr lang="en-US" sz="3200" b="1" spc="4" dirty="0">
                <a:solidFill>
                  <a:srgbClr val="E20512"/>
                </a:solidFill>
                <a:latin typeface="Arial"/>
                <a:cs typeface="Arial"/>
              </a:rPr>
              <a:t> (</a:t>
            </a:r>
            <a:r>
              <a:rPr lang="en-US" sz="3200" b="1" spc="4" dirty="0" err="1">
                <a:solidFill>
                  <a:srgbClr val="E20512"/>
                </a:solidFill>
                <a:latin typeface="Arial"/>
                <a:cs typeface="Arial"/>
              </a:rPr>
              <a:t>NUnit</a:t>
            </a:r>
            <a:r>
              <a:rPr lang="en-US" sz="3200" b="1" spc="4" dirty="0">
                <a:solidFill>
                  <a:srgbClr val="E20512"/>
                </a:solidFill>
                <a:latin typeface="Arial"/>
                <a:cs typeface="Arial"/>
              </a:rPr>
              <a:t>)</a:t>
            </a:r>
            <a:endParaRPr lang="en-US" sz="3200" spc="4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2065">
              <a:lnSpc>
                <a:spcPct val="100000"/>
              </a:lnSpc>
              <a:spcBef>
                <a:spcPts val="130"/>
              </a:spcBef>
            </a:pPr>
            <a:endParaRPr lang="en-US" sz="3200" b="1" strike="noStrike" spc="4" dirty="0">
              <a:solidFill>
                <a:srgbClr val="E20512"/>
              </a:solidFill>
              <a:latin typeface="Arial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77040" y="1035720"/>
            <a:ext cx="9814680" cy="36819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 anchor="t">
            <a:spAutoFit/>
          </a:bodyPr>
          <a:lstStyle/>
          <a:p>
            <a:pPr marL="12065">
              <a:lnSpc>
                <a:spcPct val="90000"/>
              </a:lnSpc>
              <a:spcBef>
                <a:spcPts val="391"/>
              </a:spcBef>
            </a:pPr>
            <a:r>
              <a:rPr lang="en-US" sz="2400" spc="-52" dirty="0">
                <a:solidFill>
                  <a:srgbClr val="313131"/>
                </a:solidFill>
                <a:latin typeface="Arial"/>
                <a:cs typeface="Arial"/>
              </a:rPr>
              <a:t>The main purpose </a:t>
            </a:r>
            <a:r>
              <a:rPr lang="en-US" sz="2400" b="0" strike="noStrike" spc="-52" dirty="0">
                <a:solidFill>
                  <a:srgbClr val="313131"/>
                </a:solidFill>
                <a:latin typeface="Arial"/>
                <a:cs typeface="Arial"/>
              </a:rPr>
              <a:t>of </a:t>
            </a:r>
            <a:r>
              <a:rPr lang="en-US" sz="2400" spc="-52" dirty="0">
                <a:solidFill>
                  <a:srgbClr val="313131"/>
                </a:solidFill>
                <a:latin typeface="Arial"/>
                <a:cs typeface="Arial"/>
              </a:rPr>
              <a:t>RestSharp is to make synchronous and asynchronous calls to remote resources over </a:t>
            </a:r>
            <a:r>
              <a:rPr lang="en-US" sz="2400" b="0" strike="noStrike" spc="-52" dirty="0">
                <a:solidFill>
                  <a:srgbClr val="313131"/>
                </a:solidFill>
                <a:latin typeface="Arial"/>
                <a:cs typeface="Arial"/>
              </a:rPr>
              <a:t>HTTP. </a:t>
            </a:r>
            <a:r>
              <a:rPr lang="en-US" sz="2400" spc="-52" dirty="0">
                <a:solidFill>
                  <a:srgbClr val="313131"/>
                </a:solidFill>
                <a:latin typeface="Arial"/>
                <a:cs typeface="Arial"/>
              </a:rPr>
              <a:t>As the name suggests</a:t>
            </a:r>
            <a:r>
              <a:rPr lang="en-US" sz="2400" b="0" strike="noStrike" spc="-52" dirty="0">
                <a:solidFill>
                  <a:srgbClr val="313131"/>
                </a:solidFill>
                <a:latin typeface="Arial"/>
                <a:cs typeface="Arial"/>
              </a:rPr>
              <a:t>, the </a:t>
            </a:r>
            <a:r>
              <a:rPr lang="en-US" sz="2400" spc="-52" dirty="0">
                <a:solidFill>
                  <a:srgbClr val="313131"/>
                </a:solidFill>
                <a:latin typeface="Arial"/>
                <a:cs typeface="Arial"/>
              </a:rPr>
              <a:t>main audience of RestSharp are developers who use REST APIs</a:t>
            </a:r>
            <a:r>
              <a:rPr lang="en-US" sz="2400" b="0" strike="noStrike" spc="-52" dirty="0">
                <a:solidFill>
                  <a:srgbClr val="313131"/>
                </a:solidFill>
                <a:latin typeface="Arial"/>
                <a:cs typeface="Arial"/>
              </a:rPr>
              <a:t>.</a:t>
            </a:r>
            <a:r>
              <a:rPr lang="en-US" sz="2400" spc="-52" dirty="0">
                <a:solidFill>
                  <a:srgbClr val="313131"/>
                </a:solidFill>
                <a:latin typeface="Arial"/>
                <a:cs typeface="Arial"/>
              </a:rPr>
              <a:t> </a:t>
            </a: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cs typeface="Arial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r>
              <a:rPr lang="en-US" sz="2400" spc="-52" dirty="0">
                <a:solidFill>
                  <a:srgbClr val="313131"/>
                </a:solidFill>
                <a:cs typeface="Arial"/>
              </a:rPr>
              <a:t>Before you can use </a:t>
            </a:r>
            <a:r>
              <a:rPr lang="en-US" sz="2400" spc="-52" dirty="0" err="1">
                <a:solidFill>
                  <a:srgbClr val="313131"/>
                </a:solidFill>
                <a:cs typeface="Arial"/>
              </a:rPr>
              <a:t>RestSharp</a:t>
            </a:r>
            <a:r>
              <a:rPr lang="en-US" sz="2400" spc="-52" dirty="0">
                <a:solidFill>
                  <a:srgbClr val="313131"/>
                </a:solidFill>
                <a:cs typeface="Arial"/>
              </a:rPr>
              <a:t> in your application, you need to add the NuGet package. You can do it using your IDE or the command line:</a:t>
            </a:r>
            <a:endParaRPr lang="en-US" dirty="0"/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r>
              <a:rPr lang="en-US" sz="2400" spc="-52" dirty="0">
                <a:solidFill>
                  <a:srgbClr val="313131"/>
                </a:solidFill>
                <a:highlight>
                  <a:srgbClr val="C0C0C0"/>
                </a:highlight>
                <a:cs typeface="Arial"/>
              </a:rPr>
              <a:t> dotnet add package </a:t>
            </a:r>
            <a:r>
              <a:rPr lang="en-US" sz="2400" spc="-52" dirty="0" err="1">
                <a:solidFill>
                  <a:srgbClr val="313131"/>
                </a:solidFill>
                <a:highlight>
                  <a:srgbClr val="C0C0C0"/>
                </a:highlight>
                <a:cs typeface="Arial"/>
              </a:rPr>
              <a:t>RestSharp</a:t>
            </a:r>
            <a:r>
              <a:rPr lang="en-US" sz="2400" spc="-52" dirty="0">
                <a:solidFill>
                  <a:srgbClr val="313131"/>
                </a:solidFill>
                <a:highlight>
                  <a:srgbClr val="C0C0C0"/>
                </a:highlight>
                <a:cs typeface="Arial"/>
              </a:rPr>
              <a:t>   </a:t>
            </a:r>
            <a:endParaRPr lang="en-US" dirty="0" err="1">
              <a:highlight>
                <a:srgbClr val="C0C0C0"/>
              </a:highlight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highlight>
                <a:srgbClr val="C0C0C0"/>
              </a:highlight>
              <a:cs typeface="Arial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highlight>
                <a:srgbClr val="C0C0C0"/>
              </a:highlight>
              <a:cs typeface="Arial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80824-ED55-992D-1365-78235B0C2741}"/>
              </a:ext>
            </a:extLst>
          </p:cNvPr>
          <p:cNvSpPr txBox="1"/>
          <p:nvPr/>
        </p:nvSpPr>
        <p:spPr>
          <a:xfrm>
            <a:off x="975360" y="5760720"/>
            <a:ext cx="69494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Link: </a:t>
            </a:r>
            <a:r>
              <a:rPr lang="en-US" dirty="0">
                <a:hlinkClick r:id="rId2"/>
              </a:rPr>
              <a:t>https://restsharp.dev/docs/intro/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2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object 2"/>
          <p:cNvSpPr txBox="1"/>
          <p:nvPr/>
        </p:nvSpPr>
        <p:spPr>
          <a:xfrm>
            <a:off x="916200" y="372240"/>
            <a:ext cx="92178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API </a:t>
            </a:r>
            <a:r>
              <a:rPr lang="en-US" sz="3200" b="1" strike="noStrike" spc="4">
                <a:solidFill>
                  <a:srgbClr val="E20512"/>
                </a:solidFill>
                <a:latin typeface="Arial"/>
              </a:rPr>
              <a:t>test 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case </a:t>
            </a: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example in</a:t>
            </a:r>
            <a:r>
              <a:rPr lang="en-US" sz="3200" b="1" strike="noStrike" spc="-435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RestSharp (NUnit)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2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343" name="Picture 4"/>
          <p:cNvPicPr/>
          <p:nvPr/>
        </p:nvPicPr>
        <p:blipFill>
          <a:blip r:embed="rId2"/>
          <a:stretch/>
        </p:blipFill>
        <p:spPr>
          <a:xfrm>
            <a:off x="1371600" y="1752480"/>
            <a:ext cx="8664480" cy="3580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16200" y="372240"/>
            <a:ext cx="21391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4">
                <a:solidFill>
                  <a:srgbClr val="E20512"/>
                </a:solidFill>
                <a:latin typeface="Arial"/>
              </a:rPr>
              <a:t>Assertions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77040" y="1035720"/>
            <a:ext cx="9814680" cy="365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>
            <a:spAutoFit/>
          </a:bodyPr>
          <a:lstStyle/>
          <a:p>
            <a:pPr marL="12600">
              <a:lnSpc>
                <a:spcPct val="90000"/>
              </a:lnSpc>
              <a:spcBef>
                <a:spcPts val="391"/>
              </a:spcBef>
            </a:pP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Assertions are statements </a:t>
            </a:r>
            <a:r>
              <a:rPr lang="en-US" sz="2400" b="0" strike="noStrike" spc="-52">
                <a:solidFill>
                  <a:srgbClr val="313131"/>
                </a:solidFill>
                <a:latin typeface="Arial"/>
              </a:rPr>
              <a:t>you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create </a:t>
            </a: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that check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one </a:t>
            </a: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aspect of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HTTP  response. </a:t>
            </a:r>
            <a:r>
              <a:rPr lang="en-US" sz="2400" b="0" strike="noStrike" spc="-111">
                <a:solidFill>
                  <a:srgbClr val="313131"/>
                </a:solidFill>
                <a:latin typeface="Arial"/>
              </a:rPr>
              <a:t>You </a:t>
            </a: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can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create </a:t>
            </a:r>
            <a:r>
              <a:rPr lang="en-US" sz="2400" b="0" strike="noStrike" spc="-12">
                <a:solidFill>
                  <a:srgbClr val="313131"/>
                </a:solidFill>
                <a:latin typeface="Arial"/>
              </a:rPr>
              <a:t>multiple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assertions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for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one </a:t>
            </a: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check that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assert 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various aspects </a:t>
            </a: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a </a:t>
            </a: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response,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for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52">
                <a:solidFill>
                  <a:srgbClr val="313131"/>
                </a:solidFill>
                <a:latin typeface="Arial"/>
              </a:rPr>
              <a:t>example:</a:t>
            </a:r>
            <a:endParaRPr lang="en-US" sz="240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response </a:t>
            </a:r>
            <a:r>
              <a:rPr lang="en-US" sz="2400" b="0" strike="noStrike" spc="-12">
                <a:solidFill>
                  <a:srgbClr val="313131"/>
                </a:solidFill>
                <a:latin typeface="Arial"/>
              </a:rPr>
              <a:t>status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equals</a:t>
            </a:r>
            <a:r>
              <a:rPr lang="en-US" sz="2400" b="0" strike="noStrike" spc="43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200.</a:t>
            </a:r>
            <a:endParaRPr lang="en-US" sz="240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response </a:t>
            </a:r>
            <a:r>
              <a:rPr lang="en-US" sz="2400" b="0" strike="noStrike" spc="-46">
                <a:solidFill>
                  <a:srgbClr val="313131"/>
                </a:solidFill>
                <a:latin typeface="Arial"/>
              </a:rPr>
              <a:t>body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equals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400" b="0" strike="noStrike" spc="-55">
                <a:solidFill>
                  <a:srgbClr val="313131"/>
                </a:solidFill>
                <a:latin typeface="Arial"/>
              </a:rPr>
              <a:t>text</a:t>
            </a:r>
            <a:r>
              <a:rPr lang="en-US" sz="2400" b="0" strike="noStrike" spc="20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“success”.</a:t>
            </a:r>
            <a:endParaRPr lang="en-US" sz="240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response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time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is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lower </a:t>
            </a: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than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2000</a:t>
            </a:r>
            <a:r>
              <a:rPr lang="en-US" sz="2400" b="0" strike="noStrike" spc="403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milliseconds.</a:t>
            </a:r>
            <a:endParaRPr lang="en-US" sz="240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response </a:t>
            </a:r>
            <a:r>
              <a:rPr lang="en-US" sz="2400" b="0" strike="noStrike" spc="-41">
                <a:solidFill>
                  <a:srgbClr val="313131"/>
                </a:solidFill>
                <a:latin typeface="Arial"/>
              </a:rPr>
              <a:t>header </a:t>
            </a: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“X-Custom-Header” </a:t>
            </a: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equals</a:t>
            </a:r>
            <a:r>
              <a:rPr lang="en-US" sz="2400" b="0" strike="noStrike" spc="287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“SomeValue”.</a:t>
            </a:r>
            <a:endParaRPr lang="en-US" sz="2400" b="0" strike="noStrike" spc="-1">
              <a:latin typeface="Arial"/>
            </a:endParaRPr>
          </a:p>
          <a:p>
            <a:pPr marL="298440" indent="-286200">
              <a:lnSpc>
                <a:spcPts val="2716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response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JSON </a:t>
            </a: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object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has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a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key </a:t>
            </a: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called “projectName”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with</a:t>
            </a:r>
            <a:r>
              <a:rPr lang="en-US" sz="2400" b="0" strike="noStrike" spc="423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a</a:t>
            </a:r>
            <a:endParaRPr lang="en-US" sz="2400" b="0" strike="noStrike" spc="-1">
              <a:latin typeface="Arial"/>
            </a:endParaRPr>
          </a:p>
          <a:p>
            <a:pPr marL="298440">
              <a:lnSpc>
                <a:spcPts val="2716"/>
              </a:lnSpc>
              <a:tabLst>
                <a:tab pos="298440" algn="l"/>
                <a:tab pos="299160" algn="l"/>
              </a:tabLst>
            </a:pP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value</a:t>
            </a:r>
            <a:r>
              <a:rPr lang="en-US" sz="2400" b="0" strike="noStrike" spc="89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“Project”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object 2"/>
          <p:cNvSpPr txBox="1"/>
          <p:nvPr/>
        </p:nvSpPr>
        <p:spPr>
          <a:xfrm>
            <a:off x="916200" y="372240"/>
            <a:ext cx="2671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8">
                <a:solidFill>
                  <a:srgbClr val="E20512"/>
                </a:solidFill>
                <a:latin typeface="Arial"/>
              </a:rPr>
              <a:t>The</a:t>
            </a:r>
            <a:r>
              <a:rPr lang="en-US" sz="3200" b="1" strike="noStrike" spc="-185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4">
                <a:solidFill>
                  <a:srgbClr val="E20512"/>
                </a:solidFill>
                <a:latin typeface="Arial"/>
              </a:rPr>
              <a:t>response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8" name="object 3"/>
          <p:cNvSpPr/>
          <p:nvPr/>
        </p:nvSpPr>
        <p:spPr>
          <a:xfrm>
            <a:off x="940680" y="1141200"/>
            <a:ext cx="8864280" cy="59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>
            <a:spAutoFit/>
          </a:bodyPr>
          <a:lstStyle/>
          <a:p>
            <a:pPr marL="12600">
              <a:lnSpc>
                <a:spcPts val="2290"/>
              </a:lnSpc>
              <a:spcBef>
                <a:spcPts val="130"/>
              </a:spcBef>
            </a:pPr>
            <a:r>
              <a:rPr lang="en-US" sz="2000" b="1" strike="noStrike" spc="24">
                <a:solidFill>
                  <a:srgbClr val="313131"/>
                </a:solidFill>
                <a:latin typeface="Arial"/>
              </a:rPr>
              <a:t>After all RestSharp yields</a:t>
            </a:r>
            <a:r>
              <a:rPr lang="en-US" sz="2000" b="1" strike="noStrike" spc="-18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24">
                <a:solidFill>
                  <a:srgbClr val="313131"/>
                </a:solidFill>
                <a:latin typeface="Arial"/>
              </a:rPr>
              <a:t>the</a:t>
            </a:r>
            <a:r>
              <a:rPr lang="en-US" sz="2000" b="1" strike="noStrike" spc="-9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8">
                <a:solidFill>
                  <a:srgbClr val="313131"/>
                </a:solidFill>
                <a:latin typeface="Arial"/>
              </a:rPr>
              <a:t>response</a:t>
            </a:r>
            <a:r>
              <a:rPr lang="en-US" sz="2000" b="1" strike="noStrike" spc="-160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/>
              </a:rPr>
              <a:t>as</a:t>
            </a:r>
            <a:r>
              <a:rPr lang="en-US" sz="2000" b="1" strike="noStrike" spc="-3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/>
              </a:rPr>
              <a:t>an</a:t>
            </a:r>
            <a:r>
              <a:rPr lang="en-US" sz="2000" b="1" strike="noStrike" spc="-7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24">
                <a:solidFill>
                  <a:srgbClr val="313131"/>
                </a:solidFill>
                <a:latin typeface="Arial"/>
              </a:rPr>
              <a:t>object</a:t>
            </a:r>
            <a:r>
              <a:rPr lang="en-US" sz="2000" b="1" strike="noStrike" spc="-18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8">
                <a:solidFill>
                  <a:srgbClr val="313131"/>
                </a:solidFill>
                <a:latin typeface="Arial"/>
              </a:rPr>
              <a:t>literal</a:t>
            </a:r>
            <a:r>
              <a:rPr lang="en-US" sz="2000" b="1" strike="noStrike" spc="-140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/>
              </a:rPr>
              <a:t>containing</a:t>
            </a:r>
            <a:r>
              <a:rPr lang="en-US" sz="2000" b="1" strike="noStrike" spc="-22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/>
              </a:rPr>
              <a:t>properties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18">
                <a:solidFill>
                  <a:srgbClr val="313131"/>
                </a:solidFill>
                <a:latin typeface="Arial"/>
              </a:rPr>
              <a:t>such</a:t>
            </a:r>
            <a:r>
              <a:rPr lang="en-US" sz="2000" b="1" strike="noStrike" spc="-75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/>
              </a:rPr>
              <a:t>as</a:t>
            </a:r>
            <a:r>
              <a:rPr lang="en-US" sz="2000" b="1" strike="noStrike" spc="-35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/>
              </a:rPr>
              <a:t>status,</a:t>
            </a:r>
            <a:r>
              <a:rPr lang="en-US" sz="2000" b="1" strike="noStrike" spc="-15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4">
                <a:solidFill>
                  <a:srgbClr val="313131"/>
                </a:solidFill>
                <a:latin typeface="Arial"/>
              </a:rPr>
              <a:t>body,</a:t>
            </a:r>
            <a:r>
              <a:rPr lang="en-US" sz="2000" b="1" strike="noStrike" spc="-15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24">
                <a:solidFill>
                  <a:srgbClr val="313131"/>
                </a:solidFill>
                <a:latin typeface="Arial"/>
              </a:rPr>
              <a:t>headers,</a:t>
            </a:r>
            <a:r>
              <a:rPr lang="en-US" sz="2000" b="1" strike="noStrike" spc="-22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/>
              </a:rPr>
              <a:t>duration.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49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350" name="Picture 3"/>
          <p:cNvPicPr/>
          <p:nvPr/>
        </p:nvPicPr>
        <p:blipFill>
          <a:blip r:embed="rId2"/>
          <a:stretch/>
        </p:blipFill>
        <p:spPr>
          <a:xfrm>
            <a:off x="942480" y="1905120"/>
            <a:ext cx="8734680" cy="4150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object 2"/>
          <p:cNvSpPr txBox="1"/>
          <p:nvPr/>
        </p:nvSpPr>
        <p:spPr>
          <a:xfrm>
            <a:off x="916200" y="372240"/>
            <a:ext cx="171108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Methods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2" name="object 3"/>
          <p:cNvSpPr/>
          <p:nvPr/>
        </p:nvSpPr>
        <p:spPr>
          <a:xfrm>
            <a:off x="917640" y="1029240"/>
            <a:ext cx="5166000" cy="336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280" rIns="0" bIns="0">
            <a:spAutoFit/>
          </a:bodyPr>
          <a:lstStyle/>
          <a:p>
            <a:pPr marL="12600" algn="just">
              <a:lnSpc>
                <a:spcPct val="151000"/>
              </a:lnSpc>
              <a:spcBef>
                <a:spcPts val="136"/>
              </a:spcBef>
            </a:pPr>
            <a:r>
              <a:rPr lang="en-US" sz="1800" b="1" strike="noStrike" spc="4">
                <a:solidFill>
                  <a:srgbClr val="313131"/>
                </a:solidFill>
                <a:latin typeface="Arial"/>
              </a:rPr>
              <a:t>Method: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tells </a:t>
            </a:r>
            <a:r>
              <a:rPr lang="en-US" sz="1800" b="0" strike="noStrike" spc="18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1800" b="0" strike="noStrike" spc="-26">
                <a:solidFill>
                  <a:srgbClr val="000000"/>
                </a:solidFill>
                <a:latin typeface="Arial"/>
              </a:rPr>
              <a:t>server </a:t>
            </a:r>
            <a:r>
              <a:rPr lang="en-US" sz="1800" b="0" strike="noStrike" spc="-7">
                <a:solidFill>
                  <a:srgbClr val="000000"/>
                </a:solidFill>
                <a:latin typeface="Arial"/>
              </a:rPr>
              <a:t>what </a:t>
            </a:r>
            <a:r>
              <a:rPr lang="en-US" sz="1800" b="0" strike="noStrike" spc="-15">
                <a:solidFill>
                  <a:srgbClr val="000000"/>
                </a:solidFill>
                <a:latin typeface="Arial"/>
              </a:rPr>
              <a:t>kind of action </a:t>
            </a:r>
            <a:r>
              <a:rPr lang="en-US" sz="1800" b="0" strike="noStrike" spc="18">
                <a:solidFill>
                  <a:srgbClr val="000000"/>
                </a:solidFill>
                <a:latin typeface="Arial"/>
              </a:rPr>
              <a:t>the  </a:t>
            </a:r>
            <a:r>
              <a:rPr lang="en-US" sz="1800" b="0" strike="noStrike" spc="4">
                <a:solidFill>
                  <a:srgbClr val="000000"/>
                </a:solidFill>
                <a:latin typeface="Arial"/>
              </a:rPr>
              <a:t>client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wants </a:t>
            </a:r>
            <a:r>
              <a:rPr lang="en-US" sz="1800" b="0" strike="noStrike" spc="-7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1800" b="0" strike="noStrike" spc="-26">
                <a:solidFill>
                  <a:srgbClr val="000000"/>
                </a:solidFill>
                <a:latin typeface="Arial"/>
              </a:rPr>
              <a:t>server </a:t>
            </a:r>
            <a:r>
              <a:rPr lang="en-US" sz="1800" b="0" strike="noStrike" spc="9">
                <a:solidFill>
                  <a:srgbClr val="000000"/>
                </a:solidFill>
                <a:latin typeface="Arial"/>
              </a:rPr>
              <a:t>to </a:t>
            </a:r>
            <a:r>
              <a:rPr lang="en-US" sz="1800" b="0" strike="noStrike" spc="-7">
                <a:solidFill>
                  <a:srgbClr val="000000"/>
                </a:solidFill>
                <a:latin typeface="Arial"/>
              </a:rPr>
              <a:t>take </a:t>
            </a:r>
            <a:r>
              <a:rPr lang="en-US" sz="1800" b="0" strike="noStrike" spc="4">
                <a:solidFill>
                  <a:srgbClr val="000000"/>
                </a:solidFill>
                <a:latin typeface="Arial"/>
              </a:rPr>
              <a:t>in. </a:t>
            </a:r>
            <a:r>
              <a:rPr lang="en-US" sz="1800" b="0" strike="noStrike" spc="-12">
                <a:solidFill>
                  <a:srgbClr val="000000"/>
                </a:solidFill>
                <a:latin typeface="Arial"/>
              </a:rPr>
              <a:t>Some </a:t>
            </a:r>
            <a:r>
              <a:rPr lang="en-US" sz="1800" b="0" strike="noStrike" spc="-7">
                <a:solidFill>
                  <a:srgbClr val="000000"/>
                </a:solidFill>
                <a:latin typeface="Arial"/>
              </a:rPr>
              <a:t>most  </a:t>
            </a:r>
            <a:r>
              <a:rPr lang="en-US" sz="1800" b="0" strike="noStrike" spc="4">
                <a:solidFill>
                  <a:srgbClr val="000000"/>
                </a:solidFill>
                <a:latin typeface="Arial"/>
              </a:rPr>
              <a:t>commonly </a:t>
            </a:r>
            <a:r>
              <a:rPr lang="en-US" sz="1800" b="0" strike="noStrike" spc="-15">
                <a:solidFill>
                  <a:srgbClr val="000000"/>
                </a:solidFill>
                <a:latin typeface="Arial"/>
              </a:rPr>
              <a:t>seen in </a:t>
            </a:r>
            <a:r>
              <a:rPr lang="en-US" sz="1800" b="0" strike="noStrike" spc="-35">
                <a:solidFill>
                  <a:srgbClr val="000000"/>
                </a:solidFill>
                <a:latin typeface="Arial"/>
              </a:rPr>
              <a:t>API’s</a:t>
            </a:r>
            <a:r>
              <a:rPr lang="en-US" sz="1800" b="0" strike="noStrike" spc="58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0" strike="noStrike" spc="-15">
                <a:solidFill>
                  <a:srgbClr val="000000"/>
                </a:solidFill>
                <a:latin typeface="Arial"/>
              </a:rPr>
              <a:t>are: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180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</a:tabLst>
            </a:pPr>
            <a:r>
              <a:rPr lang="en-US" sz="1800" b="1" strike="noStrike" spc="4">
                <a:solidFill>
                  <a:srgbClr val="313131"/>
                </a:solidFill>
                <a:latin typeface="Arial"/>
              </a:rPr>
              <a:t>GET 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- </a:t>
            </a:r>
            <a:r>
              <a:rPr lang="en-US" sz="1800" b="0" strike="noStrike" spc="-301">
                <a:solidFill>
                  <a:srgbClr val="313131"/>
                </a:solidFill>
                <a:latin typeface="Arial"/>
              </a:rPr>
              <a:t> </a:t>
            </a:r>
            <a:r>
              <a:rPr lang="en-US" sz="1800" b="0" strike="noStrike" spc="-75">
                <a:solidFill>
                  <a:srgbClr val="313131"/>
                </a:solidFill>
                <a:latin typeface="Arial"/>
              </a:rPr>
              <a:t> A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sks</a:t>
            </a:r>
            <a:r>
              <a:rPr lang="en-US" sz="1800" b="0" strike="noStrike" spc="-301">
                <a:solidFill>
                  <a:srgbClr val="313131"/>
                </a:solidFill>
                <a:latin typeface="Arial"/>
              </a:rPr>
              <a:t>  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1800" b="0" strike="noStrike" spc="-26">
                <a:solidFill>
                  <a:srgbClr val="313131"/>
                </a:solidFill>
                <a:latin typeface="Arial"/>
              </a:rPr>
              <a:t>server </a:t>
            </a:r>
            <a:r>
              <a:rPr lang="en-US" sz="1800" b="0" strike="noStrike" spc="9">
                <a:solidFill>
                  <a:srgbClr val="313131"/>
                </a:solidFill>
                <a:latin typeface="Arial"/>
              </a:rPr>
              <a:t>to </a:t>
            </a:r>
            <a:r>
              <a:rPr lang="en-US" sz="1800" b="0" strike="noStrike" spc="-21">
                <a:solidFill>
                  <a:srgbClr val="313131"/>
                </a:solidFill>
                <a:latin typeface="Arial"/>
              </a:rPr>
              <a:t>retrieve 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a</a:t>
            </a:r>
            <a:r>
              <a:rPr lang="en-US" sz="1800" b="0" strike="noStrike" spc="154">
                <a:solidFill>
                  <a:srgbClr val="313131"/>
                </a:solidFill>
                <a:latin typeface="Arial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/>
              </a:rPr>
              <a:t>resource.</a:t>
            </a:r>
            <a:endParaRPr lang="en-US" sz="1800" b="0" strike="noStrike" spc="-1">
              <a:latin typeface="Arial"/>
            </a:endParaRPr>
          </a:p>
          <a:p>
            <a:pPr marL="298440" indent="-286200">
              <a:lnSpc>
                <a:spcPct val="149000"/>
              </a:lnSpc>
              <a:spcBef>
                <a:spcPts val="74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1089720" algn="l"/>
                <a:tab pos="1337400" algn="l"/>
                <a:tab pos="1995120" algn="l"/>
                <a:tab pos="2481120" algn="l"/>
                <a:tab pos="3272040" algn="l"/>
                <a:tab pos="3634920" algn="l"/>
                <a:tab pos="4435560" algn="l"/>
                <a:tab pos="4721400" algn="l"/>
              </a:tabLst>
            </a:pPr>
            <a:r>
              <a:rPr lang="en-US" sz="1800" b="1" strike="noStrike" spc="-1">
                <a:solidFill>
                  <a:srgbClr val="313131"/>
                </a:solidFill>
                <a:latin typeface="Arial"/>
              </a:rPr>
              <a:t>P</a:t>
            </a:r>
            <a:r>
              <a:rPr lang="en-US" sz="1800" b="1" strike="noStrike" spc="-55">
                <a:solidFill>
                  <a:srgbClr val="313131"/>
                </a:solidFill>
                <a:latin typeface="Arial"/>
              </a:rPr>
              <a:t>O</a:t>
            </a:r>
            <a:r>
              <a:rPr lang="en-US" sz="1800" b="1" strike="noStrike" spc="-1">
                <a:solidFill>
                  <a:srgbClr val="313131"/>
                </a:solidFill>
                <a:latin typeface="Arial"/>
              </a:rPr>
              <a:t>ST	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-	</a:t>
            </a:r>
            <a:r>
              <a:rPr lang="en-US" sz="1800" b="0" strike="noStrike" spc="-75">
                <a:solidFill>
                  <a:srgbClr val="313131"/>
                </a:solidFill>
                <a:latin typeface="Arial"/>
              </a:rPr>
              <a:t>A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sks	</a:t>
            </a:r>
            <a:r>
              <a:rPr lang="en-US" sz="1800" b="0" strike="noStrike" spc="-55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h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e	s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r</a:t>
            </a:r>
            <a:r>
              <a:rPr lang="en-US" sz="1800" b="0" strike="noStrike" spc="-80">
                <a:solidFill>
                  <a:srgbClr val="313131"/>
                </a:solidFill>
                <a:latin typeface="Arial"/>
              </a:rPr>
              <a:t>v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r	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o	cr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ea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e	a	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n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w  </a:t>
            </a:r>
            <a:r>
              <a:rPr lang="en-US" sz="1800" b="0" strike="noStrike" spc="-7">
                <a:solidFill>
                  <a:srgbClr val="313131"/>
                </a:solidFill>
                <a:latin typeface="Arial"/>
              </a:rPr>
              <a:t>resource.</a:t>
            </a:r>
            <a:endParaRPr lang="en-US" sz="1800" b="0" strike="noStrike" spc="-1">
              <a:latin typeface="Arial"/>
            </a:endParaRPr>
          </a:p>
          <a:p>
            <a:pPr marL="298440" indent="-286200">
              <a:lnSpc>
                <a:spcPct val="100000"/>
              </a:lnSpc>
              <a:spcBef>
                <a:spcPts val="1066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937440" algn="l"/>
                <a:tab pos="1194480" algn="l"/>
                <a:tab pos="1881000" algn="l"/>
                <a:tab pos="2385720" algn="l"/>
                <a:tab pos="3196080" algn="l"/>
                <a:tab pos="3567960" algn="l"/>
                <a:tab pos="4892760" algn="l"/>
              </a:tabLst>
            </a:pPr>
            <a:r>
              <a:rPr lang="en-US" sz="1800" b="1" strike="noStrike" spc="-12">
                <a:solidFill>
                  <a:srgbClr val="313131"/>
                </a:solidFill>
                <a:latin typeface="Arial"/>
              </a:rPr>
              <a:t>PUT	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-	</a:t>
            </a:r>
            <a:r>
              <a:rPr lang="en-US" sz="1800" b="0" strike="noStrike" spc="-301">
                <a:solidFill>
                  <a:srgbClr val="313131"/>
                </a:solidFill>
                <a:latin typeface="Arial"/>
              </a:rPr>
              <a:t> </a:t>
            </a:r>
            <a:r>
              <a:rPr lang="en-US" sz="1800" b="0" strike="noStrike" spc="-75">
                <a:solidFill>
                  <a:srgbClr val="313131"/>
                </a:solidFill>
                <a:latin typeface="Arial"/>
              </a:rPr>
              <a:t> A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sks</a:t>
            </a:r>
            <a:r>
              <a:rPr lang="en-US" sz="1800" b="0" strike="noStrike" spc="-301">
                <a:solidFill>
                  <a:srgbClr val="313131"/>
                </a:solidFill>
                <a:latin typeface="Arial"/>
              </a:rPr>
              <a:t>       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the	</a:t>
            </a:r>
            <a:r>
              <a:rPr lang="en-US" sz="1800" b="0" strike="noStrike" spc="-15">
                <a:solidFill>
                  <a:srgbClr val="313131"/>
                </a:solidFill>
                <a:latin typeface="Arial"/>
              </a:rPr>
              <a:t>server	</a:t>
            </a:r>
            <a:r>
              <a:rPr lang="en-US" sz="1800" b="0" strike="noStrike" spc="9">
                <a:solidFill>
                  <a:srgbClr val="313131"/>
                </a:solidFill>
                <a:latin typeface="Arial"/>
              </a:rPr>
              <a:t>to	</a:t>
            </a:r>
            <a:r>
              <a:rPr lang="en-US" sz="1800" b="0" strike="noStrike" spc="4">
                <a:solidFill>
                  <a:srgbClr val="313131"/>
                </a:solidFill>
                <a:latin typeface="Arial"/>
              </a:rPr>
              <a:t>edit/update	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an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3" name="object 4"/>
          <p:cNvSpPr/>
          <p:nvPr/>
        </p:nvSpPr>
        <p:spPr>
          <a:xfrm>
            <a:off x="917640" y="4097160"/>
            <a:ext cx="2237400" cy="129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8680" rIns="0" bIns="0">
            <a:spAutoFit/>
          </a:bodyPr>
          <a:lstStyle/>
          <a:p>
            <a:pPr marL="298440">
              <a:lnSpc>
                <a:spcPct val="100000"/>
              </a:lnSpc>
              <a:spcBef>
                <a:spcPts val="1171"/>
              </a:spcBef>
            </a:pPr>
            <a:r>
              <a:rPr lang="en-US" sz="1800" b="0" strike="noStrike" spc="-15">
                <a:solidFill>
                  <a:srgbClr val="313131"/>
                </a:solidFill>
                <a:latin typeface="Arial"/>
              </a:rPr>
              <a:t>existing</a:t>
            </a:r>
            <a:r>
              <a:rPr lang="en-US" sz="1800" b="0" strike="noStrike" spc="49">
                <a:solidFill>
                  <a:srgbClr val="313131"/>
                </a:solidFill>
                <a:latin typeface="Arial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/>
              </a:rPr>
              <a:t>resource.</a:t>
            </a:r>
            <a:endParaRPr lang="en-US" sz="1800" b="0" strike="noStrike" spc="-1">
              <a:latin typeface="Arial"/>
            </a:endParaRPr>
          </a:p>
          <a:p>
            <a:pPr marL="298440" indent="-286200">
              <a:lnSpc>
                <a:spcPts val="3311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1432440" algn="l"/>
                <a:tab pos="1718280" algn="l"/>
              </a:tabLst>
            </a:pPr>
            <a:r>
              <a:rPr lang="en-US" sz="1800" b="1" strike="noStrike" spc="-32">
                <a:solidFill>
                  <a:srgbClr val="313131"/>
                </a:solidFill>
                <a:latin typeface="Arial"/>
              </a:rPr>
              <a:t>D</a:t>
            </a:r>
            <a:r>
              <a:rPr lang="en-US" sz="1800" b="1" strike="noStrike" spc="-1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1" strike="noStrike" spc="12">
                <a:solidFill>
                  <a:srgbClr val="313131"/>
                </a:solidFill>
                <a:latin typeface="Arial"/>
              </a:rPr>
              <a:t>L</a:t>
            </a:r>
            <a:r>
              <a:rPr lang="en-US" sz="1800" b="1" strike="noStrike" spc="-1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1" strike="noStrike" spc="12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1" strike="noStrike" spc="-1">
                <a:solidFill>
                  <a:srgbClr val="313131"/>
                </a:solidFill>
                <a:latin typeface="Arial"/>
              </a:rPr>
              <a:t>E	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-</a:t>
            </a:r>
            <a:r>
              <a:rPr lang="en-US" sz="1800" b="0" strike="noStrike" spc="-75">
                <a:solidFill>
                  <a:srgbClr val="313131"/>
                </a:solidFill>
                <a:latin typeface="Arial"/>
              </a:rPr>
              <a:t> A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sks</a:t>
            </a:r>
            <a:r>
              <a:rPr lang="en-US" sz="1800" b="0" strike="noStrike" spc="-55">
                <a:solidFill>
                  <a:srgbClr val="313131"/>
                </a:solidFill>
                <a:latin typeface="Arial"/>
              </a:rPr>
              <a:t> 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/>
              </a:rPr>
              <a:t>resource.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4" name="object 5"/>
          <p:cNvSpPr/>
          <p:nvPr/>
        </p:nvSpPr>
        <p:spPr>
          <a:xfrm>
            <a:off x="3339000" y="4642920"/>
            <a:ext cx="274536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536400" algn="l"/>
                <a:tab pos="1365840" algn="l"/>
                <a:tab pos="1765800" algn="l"/>
                <a:tab pos="2604600" algn="l"/>
              </a:tabLst>
            </a:pPr>
            <a:r>
              <a:rPr lang="en-US" sz="1800" b="0" strike="noStrike" spc="-55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h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e	s</a:t>
            </a:r>
            <a:r>
              <a:rPr lang="en-US" sz="1800" b="0" strike="noStrike" spc="-26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r</a:t>
            </a:r>
            <a:r>
              <a:rPr lang="en-US" sz="1800" b="0" strike="noStrike" spc="-75">
                <a:solidFill>
                  <a:srgbClr val="313131"/>
                </a:solidFill>
                <a:latin typeface="Arial"/>
              </a:rPr>
              <a:t>v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r	</a:t>
            </a:r>
            <a:r>
              <a:rPr lang="en-US" sz="1800" b="0" strike="noStrike" spc="24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o	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d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l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24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e	a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5" name="object 6"/>
          <p:cNvSpPr/>
          <p:nvPr/>
        </p:nvSpPr>
        <p:spPr>
          <a:xfrm>
            <a:off x="917640" y="5337720"/>
            <a:ext cx="5156640" cy="83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298440" indent="-286200">
              <a:lnSpc>
                <a:spcPct val="149000"/>
              </a:lnSpc>
              <a:spcBef>
                <a:spcPts val="99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1213560" algn="l"/>
                <a:tab pos="1442160" algn="l"/>
                <a:tab pos="2080800" algn="l"/>
                <a:tab pos="2557080" algn="l"/>
                <a:tab pos="3329280" algn="l"/>
                <a:tab pos="3672720" algn="l"/>
                <a:tab pos="4521240" algn="l"/>
              </a:tabLst>
            </a:pPr>
            <a:r>
              <a:rPr lang="en-US" sz="1800" b="1" strike="noStrike" spc="-157">
                <a:solidFill>
                  <a:srgbClr val="313131"/>
                </a:solidFill>
                <a:latin typeface="Arial"/>
              </a:rPr>
              <a:t>P</a:t>
            </a:r>
            <a:r>
              <a:rPr lang="en-US" sz="1800" b="1" strike="noStrike" spc="-182">
                <a:solidFill>
                  <a:srgbClr val="313131"/>
                </a:solidFill>
                <a:latin typeface="Arial"/>
              </a:rPr>
              <a:t>A</a:t>
            </a:r>
            <a:r>
              <a:rPr lang="en-US" sz="1800" b="1" strike="noStrike" spc="18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1" strike="noStrike" spc="-32">
                <a:solidFill>
                  <a:srgbClr val="313131"/>
                </a:solidFill>
                <a:latin typeface="Arial"/>
              </a:rPr>
              <a:t>C</a:t>
            </a:r>
            <a:r>
              <a:rPr lang="en-US" sz="1800" b="1" strike="noStrike" spc="-1">
                <a:solidFill>
                  <a:srgbClr val="313131"/>
                </a:solidFill>
                <a:latin typeface="Arial"/>
              </a:rPr>
              <a:t>H	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-	</a:t>
            </a:r>
            <a:r>
              <a:rPr lang="en-US" sz="1800" b="0" strike="noStrike" spc="-80">
                <a:solidFill>
                  <a:srgbClr val="313131"/>
                </a:solidFill>
                <a:latin typeface="Arial"/>
              </a:rPr>
              <a:t>A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sks	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h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e	s</a:t>
            </a:r>
            <a:r>
              <a:rPr lang="en-US" sz="1800" b="0" strike="noStrike" spc="-26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r</a:t>
            </a:r>
            <a:r>
              <a:rPr lang="en-US" sz="1800" b="0" strike="noStrike" spc="-75">
                <a:solidFill>
                  <a:srgbClr val="313131"/>
                </a:solidFill>
                <a:latin typeface="Arial"/>
              </a:rPr>
              <a:t>v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e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r	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o	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u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p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d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a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e	</a:t>
            </a:r>
            <a:r>
              <a:rPr lang="en-US" sz="1800" b="0" strike="noStrike" spc="43">
                <a:solidFill>
                  <a:srgbClr val="313131"/>
                </a:solidFill>
                <a:latin typeface="Arial"/>
              </a:rPr>
              <a:t>p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a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r</a:t>
            </a:r>
            <a:r>
              <a:rPr lang="en-US" sz="1800" b="0" strike="noStrike" spc="18">
                <a:solidFill>
                  <a:srgbClr val="313131"/>
                </a:solidFill>
                <a:latin typeface="Arial"/>
              </a:rPr>
              <a:t>t</a:t>
            </a:r>
            <a:r>
              <a:rPr lang="en-US" sz="1800" b="0" strike="noStrike" spc="-32">
                <a:solidFill>
                  <a:srgbClr val="313131"/>
                </a:solidFill>
                <a:latin typeface="Arial"/>
              </a:rPr>
              <a:t>ia</a:t>
            </a:r>
            <a:r>
              <a:rPr lang="en-US" sz="1800" b="0" strike="noStrike" spc="-1">
                <a:solidFill>
                  <a:srgbClr val="313131"/>
                </a:solidFill>
                <a:latin typeface="Arial"/>
              </a:rPr>
              <a:t>l  </a:t>
            </a:r>
            <a:r>
              <a:rPr lang="en-US" sz="1800" b="0" strike="noStrike" spc="-7">
                <a:solidFill>
                  <a:srgbClr val="313131"/>
                </a:solidFill>
                <a:latin typeface="Arial"/>
              </a:rPr>
              <a:t>modifications </a:t>
            </a:r>
            <a:r>
              <a:rPr lang="en-US" sz="1800" b="0" strike="noStrike" spc="-15">
                <a:solidFill>
                  <a:srgbClr val="313131"/>
                </a:solidFill>
                <a:latin typeface="Arial"/>
              </a:rPr>
              <a:t>an existing</a:t>
            </a:r>
            <a:r>
              <a:rPr lang="en-US" sz="1800" b="0" strike="noStrike" spc="117">
                <a:solidFill>
                  <a:srgbClr val="313131"/>
                </a:solidFill>
                <a:latin typeface="Arial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/>
              </a:rPr>
              <a:t>resource.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56" name="object 8"/>
          <p:cNvSpPr/>
          <p:nvPr/>
        </p:nvSpPr>
        <p:spPr>
          <a:xfrm>
            <a:off x="8514000" y="2017800"/>
            <a:ext cx="2889000" cy="14983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7" name="object 10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358" name="Picture 11"/>
          <p:cNvPicPr/>
          <p:nvPr/>
        </p:nvPicPr>
        <p:blipFill>
          <a:blip r:embed="rId3"/>
          <a:stretch/>
        </p:blipFill>
        <p:spPr>
          <a:xfrm>
            <a:off x="6264360" y="1220040"/>
            <a:ext cx="5927400" cy="3093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object 2"/>
          <p:cNvSpPr txBox="1"/>
          <p:nvPr/>
        </p:nvSpPr>
        <p:spPr>
          <a:xfrm>
            <a:off x="916200" y="372240"/>
            <a:ext cx="5979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GET 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Method </a:t>
            </a:r>
            <a:r>
              <a:rPr lang="en-US" sz="3200" b="1" strike="noStrike" spc="-26">
                <a:solidFill>
                  <a:srgbClr val="E20512"/>
                </a:solidFill>
                <a:latin typeface="Arial"/>
              </a:rPr>
              <a:t>With </a:t>
            </a:r>
            <a:r>
              <a:rPr lang="en-US" sz="3200" b="1" strike="noStrike" spc="4">
                <a:solidFill>
                  <a:srgbClr val="E20512"/>
                </a:solidFill>
                <a:latin typeface="Arial"/>
              </a:rPr>
              <a:t>Query</a:t>
            </a:r>
            <a:r>
              <a:rPr lang="en-US" sz="3200" b="1" strike="noStrike" spc="-301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String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object 3"/>
          <p:cNvSpPr/>
          <p:nvPr/>
        </p:nvSpPr>
        <p:spPr>
          <a:xfrm>
            <a:off x="657360" y="1019160"/>
            <a:ext cx="10981800" cy="42667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1" name="object 4"/>
          <p:cNvSpPr/>
          <p:nvPr/>
        </p:nvSpPr>
        <p:spPr>
          <a:xfrm>
            <a:off x="834840" y="5539680"/>
            <a:ext cx="586116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strike="noStrike" spc="-12">
                <a:solidFill>
                  <a:srgbClr val="313131"/>
                </a:solidFill>
                <a:latin typeface="Arial"/>
              </a:rPr>
              <a:t>{{demoqa}}/BookStore/v1/Book?ISBN=9781593275846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62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object 2"/>
          <p:cNvSpPr txBox="1"/>
          <p:nvPr/>
        </p:nvSpPr>
        <p:spPr>
          <a:xfrm>
            <a:off x="916200" y="372240"/>
            <a:ext cx="23281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9">
                <a:solidFill>
                  <a:srgbClr val="E20512"/>
                </a:solidFill>
                <a:latin typeface="Arial"/>
              </a:rPr>
              <a:t>GET</a:t>
            </a:r>
            <a:r>
              <a:rPr lang="en-US" sz="3200" b="0" strike="noStrike" spc="-171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4">
                <a:solidFill>
                  <a:srgbClr val="E20512"/>
                </a:solidFill>
                <a:latin typeface="Arial"/>
              </a:rPr>
              <a:t>Method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4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365" name="Picture 4"/>
          <p:cNvPicPr/>
          <p:nvPr/>
        </p:nvPicPr>
        <p:blipFill>
          <a:blip r:embed="rId2"/>
          <a:stretch/>
        </p:blipFill>
        <p:spPr>
          <a:xfrm>
            <a:off x="2117520" y="1447920"/>
            <a:ext cx="8071920" cy="4304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object 2"/>
          <p:cNvSpPr txBox="1"/>
          <p:nvPr/>
        </p:nvSpPr>
        <p:spPr>
          <a:xfrm>
            <a:off x="916200" y="372240"/>
            <a:ext cx="116244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De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m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o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68" name="object 3"/>
          <p:cNvSpPr/>
          <p:nvPr/>
        </p:nvSpPr>
        <p:spPr>
          <a:xfrm>
            <a:off x="917640" y="1496160"/>
            <a:ext cx="8607240" cy="210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30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890"/>
              </a:spcBef>
            </a:pPr>
            <a:r>
              <a:rPr lang="en-US" sz="2400" b="1" strike="noStrike" spc="24">
                <a:solidFill>
                  <a:srgbClr val="313131"/>
                </a:solidFill>
                <a:latin typeface="Arial"/>
              </a:rPr>
              <a:t>Scenario</a:t>
            </a:r>
            <a:r>
              <a:rPr lang="en-US" sz="2400" b="1" strike="noStrike" spc="-151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1" strike="noStrike" spc="12">
                <a:solidFill>
                  <a:srgbClr val="313131"/>
                </a:solidFill>
                <a:latin typeface="Arial"/>
              </a:rPr>
              <a:t>1</a:t>
            </a:r>
            <a:endParaRPr lang="en-US" sz="2400" b="0" strike="noStrike" spc="-1">
              <a:latin typeface="Arial"/>
            </a:endParaRPr>
          </a:p>
          <a:p>
            <a:pPr marL="355680" indent="-343080">
              <a:lnSpc>
                <a:spcPct val="89000"/>
              </a:lnSpc>
              <a:spcBef>
                <a:spcPts val="1001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Use the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GET </a:t>
            </a:r>
            <a:r>
              <a:rPr lang="en-US" sz="2400" b="0" strike="noStrike" spc="-12">
                <a:solidFill>
                  <a:srgbClr val="313131"/>
                </a:solidFill>
                <a:latin typeface="Arial"/>
              </a:rPr>
              <a:t>method </a:t>
            </a:r>
            <a:r>
              <a:rPr lang="en-US" sz="2400" b="0" strike="noStrike" spc="18">
                <a:solidFill>
                  <a:srgbClr val="313131"/>
                </a:solidFill>
                <a:latin typeface="Arial"/>
              </a:rPr>
              <a:t>in </a:t>
            </a:r>
            <a:r>
              <a:rPr lang="en-US" sz="2400" b="0" strike="noStrike" spc="12">
                <a:solidFill>
                  <a:srgbClr val="313131"/>
                </a:solidFill>
                <a:latin typeface="Arial"/>
              </a:rPr>
              <a:t>'https://serverest.dev/usuarios’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to  </a:t>
            </a:r>
            <a:r>
              <a:rPr lang="en-US" sz="2400" b="0" strike="noStrike" spc="18">
                <a:solidFill>
                  <a:srgbClr val="313131"/>
                </a:solidFill>
                <a:latin typeface="Arial"/>
              </a:rPr>
              <a:t>retrieve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all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users</a:t>
            </a:r>
            <a:r>
              <a:rPr lang="en-US" sz="2400" b="0" strike="noStrike" spc="3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data.</a:t>
            </a:r>
            <a:endParaRPr lang="en-US" sz="2400" b="0" strike="noStrike" spc="-1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19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Validate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status</a:t>
            </a:r>
            <a:r>
              <a:rPr lang="en-US" sz="2400" b="0" strike="noStrike" spc="-151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12">
                <a:solidFill>
                  <a:srgbClr val="313131"/>
                </a:solidFill>
                <a:latin typeface="Arial"/>
              </a:rPr>
              <a:t>code.</a:t>
            </a:r>
            <a:endParaRPr lang="en-US" sz="2400" b="0" strike="noStrike" spc="-1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66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Validate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content </a:t>
            </a:r>
            <a:r>
              <a:rPr lang="en-US" sz="2400" b="0" strike="noStrike" spc="18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response</a:t>
            </a:r>
            <a:r>
              <a:rPr lang="en-US" sz="2400" b="0" strike="noStrike" spc="174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body.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object 2"/>
          <p:cNvSpPr txBox="1"/>
          <p:nvPr/>
        </p:nvSpPr>
        <p:spPr>
          <a:xfrm>
            <a:off x="916200" y="372240"/>
            <a:ext cx="77173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/>
              </a:rPr>
              <a:t>POST: </a:t>
            </a:r>
            <a:r>
              <a:rPr lang="en-US" sz="3200" b="0" strike="noStrike" spc="24">
                <a:solidFill>
                  <a:srgbClr val="E20512"/>
                </a:solidFill>
                <a:latin typeface="Arial"/>
              </a:rPr>
              <a:t>Basic </a:t>
            </a:r>
            <a:r>
              <a:rPr lang="en-US" sz="3200" b="0" strike="noStrike" spc="9">
                <a:solidFill>
                  <a:srgbClr val="E20512"/>
                </a:solidFill>
                <a:latin typeface="Arial"/>
              </a:rPr>
              <a:t>Authorization</a:t>
            </a:r>
            <a:r>
              <a:rPr lang="en-US" sz="3200" b="0" strike="noStrike" spc="-71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9">
                <a:solidFill>
                  <a:srgbClr val="E20512"/>
                </a:solidFill>
                <a:latin typeface="Arial"/>
              </a:rPr>
              <a:t>(API </a:t>
            </a:r>
            <a:r>
              <a:rPr lang="en-US" sz="3200" b="0" strike="noStrike" spc="18">
                <a:solidFill>
                  <a:srgbClr val="E20512"/>
                </a:solidFill>
                <a:latin typeface="Arial"/>
              </a:rPr>
              <a:t>document)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object 3"/>
          <p:cNvSpPr/>
          <p:nvPr/>
        </p:nvSpPr>
        <p:spPr>
          <a:xfrm>
            <a:off x="838080" y="1010160"/>
            <a:ext cx="10991520" cy="48668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1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72" name="Rectangle 4"/>
          <p:cNvSpPr/>
          <p:nvPr/>
        </p:nvSpPr>
        <p:spPr>
          <a:xfrm>
            <a:off x="916200" y="5996880"/>
            <a:ext cx="7541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https://demoqa.com/swagger/#/Account/AccountV1AuthorizedPost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object 2"/>
          <p:cNvSpPr txBox="1"/>
          <p:nvPr/>
        </p:nvSpPr>
        <p:spPr>
          <a:xfrm>
            <a:off x="916200" y="372240"/>
            <a:ext cx="71485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/>
              </a:rPr>
              <a:t>POST: </a:t>
            </a:r>
            <a:r>
              <a:rPr lang="en-US" sz="3200" b="0" strike="noStrike" spc="4">
                <a:solidFill>
                  <a:srgbClr val="E20512"/>
                </a:solidFill>
                <a:latin typeface="Arial"/>
              </a:rPr>
              <a:t>Generate </a:t>
            </a:r>
            <a:r>
              <a:rPr lang="en-US" sz="3200" b="0" strike="noStrike" spc="-60">
                <a:solidFill>
                  <a:srgbClr val="E20512"/>
                </a:solidFill>
                <a:latin typeface="Arial"/>
              </a:rPr>
              <a:t>Token </a:t>
            </a:r>
            <a:r>
              <a:rPr lang="en-US" sz="3200" b="0" strike="noStrike" spc="9">
                <a:solidFill>
                  <a:srgbClr val="E20512"/>
                </a:solidFill>
                <a:latin typeface="Arial"/>
              </a:rPr>
              <a:t>(API</a:t>
            </a:r>
            <a:r>
              <a:rPr lang="en-US" sz="3200" b="0" strike="noStrike" spc="-307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18">
                <a:solidFill>
                  <a:srgbClr val="E20512"/>
                </a:solidFill>
                <a:latin typeface="Arial"/>
              </a:rPr>
              <a:t>document)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4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375" name="Picture 4"/>
          <p:cNvPicPr/>
          <p:nvPr/>
        </p:nvPicPr>
        <p:blipFill>
          <a:blip r:embed="rId2"/>
          <a:stretch/>
        </p:blipFill>
        <p:spPr>
          <a:xfrm>
            <a:off x="838080" y="1008000"/>
            <a:ext cx="8915040" cy="5048640"/>
          </a:xfrm>
          <a:prstGeom prst="rect">
            <a:avLst/>
          </a:prstGeom>
          <a:ln w="0">
            <a:noFill/>
          </a:ln>
        </p:spPr>
      </p:pic>
      <p:sp>
        <p:nvSpPr>
          <p:cNvPr id="376" name="Rectangle 5"/>
          <p:cNvSpPr/>
          <p:nvPr/>
        </p:nvSpPr>
        <p:spPr>
          <a:xfrm>
            <a:off x="727200" y="6174360"/>
            <a:ext cx="398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https://serverest.dev/#/Login/post_login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object 2"/>
          <p:cNvSpPr txBox="1"/>
          <p:nvPr/>
        </p:nvSpPr>
        <p:spPr>
          <a:xfrm>
            <a:off x="916200" y="372240"/>
            <a:ext cx="7063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/>
              </a:rPr>
              <a:t>POST: </a:t>
            </a:r>
            <a:r>
              <a:rPr lang="en-US" sz="3200" b="0" strike="noStrike" spc="4">
                <a:solidFill>
                  <a:srgbClr val="E20512"/>
                </a:solidFill>
                <a:latin typeface="Arial"/>
              </a:rPr>
              <a:t>Generate </a:t>
            </a:r>
            <a:r>
              <a:rPr lang="en-US" sz="3200" b="0" strike="noStrike" spc="-60">
                <a:solidFill>
                  <a:srgbClr val="E20512"/>
                </a:solidFill>
                <a:latin typeface="Arial"/>
              </a:rPr>
              <a:t>Token </a:t>
            </a:r>
            <a:r>
              <a:rPr lang="en-US" sz="3200" b="0" strike="noStrike" spc="4">
                <a:solidFill>
                  <a:srgbClr val="E20512"/>
                </a:solidFill>
                <a:latin typeface="Arial"/>
              </a:rPr>
              <a:t>(Rest Sharp</a:t>
            </a:r>
            <a:r>
              <a:rPr lang="en-US" sz="3200" b="0" strike="noStrike" spc="18">
                <a:solidFill>
                  <a:srgbClr val="E20512"/>
                </a:solidFill>
                <a:latin typeface="Arial"/>
              </a:rPr>
              <a:t>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379" name="Picture 2"/>
          <p:cNvPicPr/>
          <p:nvPr/>
        </p:nvPicPr>
        <p:blipFill>
          <a:blip r:embed="rId2"/>
          <a:stretch/>
        </p:blipFill>
        <p:spPr>
          <a:xfrm>
            <a:off x="2438280" y="1371600"/>
            <a:ext cx="6886800" cy="415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object 2"/>
          <p:cNvSpPr txBox="1"/>
          <p:nvPr/>
        </p:nvSpPr>
        <p:spPr>
          <a:xfrm>
            <a:off x="916200" y="372240"/>
            <a:ext cx="26557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Json</a:t>
            </a:r>
            <a:r>
              <a:rPr lang="en-US" sz="3200" b="1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Schema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86" name="object 3"/>
          <p:cNvSpPr/>
          <p:nvPr/>
        </p:nvSpPr>
        <p:spPr>
          <a:xfrm>
            <a:off x="975600" y="1046520"/>
            <a:ext cx="7372800" cy="372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0480" rIns="0" bIns="0">
            <a:spAutoFit/>
          </a:bodyPr>
          <a:lstStyle/>
          <a:p>
            <a:pPr marL="12600">
              <a:lnSpc>
                <a:spcPts val="2999"/>
              </a:lnSpc>
              <a:spcBef>
                <a:spcPts val="476"/>
              </a:spcBef>
            </a:pPr>
            <a:r>
              <a:rPr lang="en-US" sz="2750" b="1" strike="noStrike" spc="29">
                <a:solidFill>
                  <a:srgbClr val="313131"/>
                </a:solidFill>
                <a:latin typeface="Arial"/>
              </a:rPr>
              <a:t>JSON Schema </a:t>
            </a:r>
            <a:r>
              <a:rPr lang="en-US" sz="2750" b="0" strike="noStrike" spc="-41">
                <a:solidFill>
                  <a:srgbClr val="313131"/>
                </a:solidFill>
                <a:latin typeface="Arial"/>
              </a:rPr>
              <a:t>is </a:t>
            </a:r>
            <a:r>
              <a:rPr lang="en-US" sz="2750" b="0" strike="noStrike" spc="9">
                <a:solidFill>
                  <a:srgbClr val="313131"/>
                </a:solidFill>
                <a:latin typeface="Arial"/>
              </a:rPr>
              <a:t>a </a:t>
            </a:r>
            <a:r>
              <a:rPr lang="en-US" sz="2750" b="0" strike="noStrike" spc="-1">
                <a:solidFill>
                  <a:srgbClr val="313131"/>
                </a:solidFill>
                <a:latin typeface="Arial"/>
              </a:rPr>
              <a:t>vocabulary that </a:t>
            </a:r>
            <a:r>
              <a:rPr lang="en-US" sz="2750" b="0" strike="noStrike" spc="-21">
                <a:solidFill>
                  <a:srgbClr val="313131"/>
                </a:solidFill>
                <a:latin typeface="Arial"/>
              </a:rPr>
              <a:t>allows </a:t>
            </a:r>
            <a:r>
              <a:rPr lang="en-US" sz="2750" b="0" strike="noStrike" spc="-15">
                <a:solidFill>
                  <a:srgbClr val="313131"/>
                </a:solidFill>
                <a:latin typeface="Arial"/>
              </a:rPr>
              <a:t>you  </a:t>
            </a:r>
            <a:r>
              <a:rPr lang="en-US" sz="2750" b="0" strike="noStrike" spc="-1">
                <a:solidFill>
                  <a:srgbClr val="313131"/>
                </a:solidFill>
                <a:latin typeface="Arial"/>
              </a:rPr>
              <a:t>to </a:t>
            </a:r>
            <a:r>
              <a:rPr lang="en-US" sz="2750" b="1" strike="noStrike" spc="24">
                <a:solidFill>
                  <a:srgbClr val="313131"/>
                </a:solidFill>
                <a:latin typeface="Arial"/>
              </a:rPr>
              <a:t>annotate </a:t>
            </a:r>
            <a:r>
              <a:rPr lang="en-US" sz="2750" b="0" strike="noStrike" spc="4">
                <a:solidFill>
                  <a:srgbClr val="313131"/>
                </a:solidFill>
                <a:latin typeface="Arial"/>
              </a:rPr>
              <a:t>and </a:t>
            </a:r>
            <a:r>
              <a:rPr lang="en-US" sz="2750" b="1" strike="noStrike" spc="12">
                <a:solidFill>
                  <a:srgbClr val="313131"/>
                </a:solidFill>
                <a:latin typeface="Arial"/>
              </a:rPr>
              <a:t>validate </a:t>
            </a:r>
            <a:r>
              <a:rPr lang="en-US" sz="2750" b="0" strike="noStrike" spc="29">
                <a:solidFill>
                  <a:srgbClr val="313131"/>
                </a:solidFill>
                <a:latin typeface="Arial"/>
              </a:rPr>
              <a:t>JSON</a:t>
            </a:r>
            <a:r>
              <a:rPr lang="en-US" sz="2750" b="0" strike="noStrike" spc="180">
                <a:solidFill>
                  <a:srgbClr val="313131"/>
                </a:solidFill>
                <a:latin typeface="Arial"/>
              </a:rPr>
              <a:t> </a:t>
            </a:r>
            <a:r>
              <a:rPr lang="en-US" sz="2750" b="0" strike="noStrike" spc="12">
                <a:solidFill>
                  <a:srgbClr val="313131"/>
                </a:solidFill>
                <a:latin typeface="Arial"/>
              </a:rPr>
              <a:t>documents.</a:t>
            </a:r>
            <a:endParaRPr lang="en-US" sz="2750" b="0" strike="noStrike" spc="-1">
              <a:latin typeface="Arial"/>
            </a:endParaRPr>
          </a:p>
          <a:p>
            <a:pPr marL="114480">
              <a:lnSpc>
                <a:spcPct val="100000"/>
              </a:lnSpc>
              <a:spcBef>
                <a:spcPts val="1239"/>
              </a:spcBef>
            </a:pPr>
            <a:r>
              <a:rPr lang="en-US" sz="2600" b="0" strike="noStrike" spc="-32">
                <a:solidFill>
                  <a:srgbClr val="313131"/>
                </a:solidFill>
                <a:latin typeface="Arial"/>
              </a:rPr>
              <a:t>Benefits</a:t>
            </a:r>
            <a:endParaRPr lang="en-US" sz="2600" b="0" strike="noStrike" spc="-1">
              <a:latin typeface="Arial"/>
            </a:endParaRPr>
          </a:p>
          <a:p>
            <a:pPr marL="438120" indent="-324000">
              <a:lnSpc>
                <a:spcPct val="100000"/>
              </a:lnSpc>
              <a:spcBef>
                <a:spcPts val="235"/>
              </a:spcBef>
              <a:buClr>
                <a:srgbClr val="E20512"/>
              </a:buClr>
              <a:buSzPct val="115000"/>
              <a:buFont typeface="Wingdings" charset="2"/>
              <a:buChar char=""/>
              <a:tabLst>
                <a:tab pos="438840" algn="l"/>
              </a:tabLst>
            </a:pP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Describes </a:t>
            </a: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your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existing data</a:t>
            </a:r>
            <a:r>
              <a:rPr lang="en-US" sz="2400" b="0" strike="noStrike" spc="58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format(s).</a:t>
            </a:r>
            <a:endParaRPr lang="en-US" sz="2400" b="0" strike="noStrike" spc="-1">
              <a:latin typeface="Arial"/>
            </a:endParaRPr>
          </a:p>
          <a:p>
            <a:pPr marL="438120" indent="-324000">
              <a:lnSpc>
                <a:spcPts val="3251"/>
              </a:lnSpc>
              <a:spcBef>
                <a:spcPts val="184"/>
              </a:spcBef>
              <a:buClr>
                <a:srgbClr val="E20512"/>
              </a:buClr>
              <a:buSzPct val="115000"/>
              <a:buFont typeface="Wingdings" charset="2"/>
              <a:buChar char=""/>
              <a:tabLst>
                <a:tab pos="438840" algn="l"/>
              </a:tabLst>
            </a:pP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Provides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clear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human-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and </a:t>
            </a:r>
            <a:r>
              <a:rPr lang="en-US" sz="2400" b="0" strike="noStrike" spc="-12">
                <a:solidFill>
                  <a:srgbClr val="313131"/>
                </a:solidFill>
                <a:latin typeface="Arial"/>
              </a:rPr>
              <a:t>machine-</a:t>
            </a:r>
            <a:r>
              <a:rPr lang="en-US" sz="2400" b="0" strike="noStrike" spc="-7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41">
                <a:solidFill>
                  <a:srgbClr val="313131"/>
                </a:solidFill>
                <a:latin typeface="Arial"/>
              </a:rPr>
              <a:t>readable</a:t>
            </a:r>
            <a:endParaRPr lang="en-US" sz="2400" b="0" strike="noStrike" spc="-1">
              <a:latin typeface="Arial"/>
            </a:endParaRPr>
          </a:p>
          <a:p>
            <a:pPr marL="399960">
              <a:lnSpc>
                <a:spcPts val="2710"/>
              </a:lnSpc>
              <a:tabLst>
                <a:tab pos="438840" algn="l"/>
              </a:tabLst>
            </a:pP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documentation.</a:t>
            </a:r>
            <a:endParaRPr lang="en-US" sz="2400" b="0" strike="noStrike" spc="-1">
              <a:latin typeface="Arial"/>
            </a:endParaRPr>
          </a:p>
          <a:p>
            <a:pPr marL="438120" indent="-324000">
              <a:lnSpc>
                <a:spcPct val="100000"/>
              </a:lnSpc>
              <a:spcBef>
                <a:spcPts val="201"/>
              </a:spcBef>
              <a:buClr>
                <a:srgbClr val="E20512"/>
              </a:buClr>
              <a:buSzPct val="115000"/>
              <a:buFont typeface="Wingdings" charset="2"/>
              <a:buChar char=""/>
              <a:tabLst>
                <a:tab pos="438840" algn="l"/>
              </a:tabLst>
            </a:pPr>
            <a:r>
              <a:rPr lang="en-US" sz="2400" b="0" strike="noStrike" spc="-52">
                <a:solidFill>
                  <a:srgbClr val="313131"/>
                </a:solidFill>
                <a:latin typeface="Arial"/>
              </a:rPr>
              <a:t>Validates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data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which is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useful</a:t>
            </a:r>
            <a:r>
              <a:rPr lang="en-US" sz="2400" b="0" strike="noStrike" spc="-205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for:</a:t>
            </a:r>
            <a:endParaRPr lang="en-US" sz="2400" b="0" strike="noStrike" spc="-1">
              <a:latin typeface="Arial"/>
            </a:endParaRPr>
          </a:p>
          <a:p>
            <a:pPr marL="800640" lvl="1" indent="-229680">
              <a:lnSpc>
                <a:spcPct val="100000"/>
              </a:lnSpc>
              <a:spcBef>
                <a:spcPts val="184"/>
              </a:spcBef>
              <a:buClr>
                <a:srgbClr val="566BE2"/>
              </a:buClr>
              <a:buFont typeface="Carlito"/>
              <a:buChar char="-"/>
              <a:tabLst>
                <a:tab pos="800640" algn="l"/>
                <a:tab pos="801360" algn="l"/>
              </a:tabLst>
            </a:pP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Automated</a:t>
            </a:r>
            <a:r>
              <a:rPr lang="en-US" sz="2400" b="0" strike="noStrike" spc="16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testing.</a:t>
            </a:r>
            <a:endParaRPr lang="en-US" sz="2400" b="0" strike="noStrike" spc="-1">
              <a:latin typeface="Arial"/>
            </a:endParaRPr>
          </a:p>
          <a:p>
            <a:pPr marL="800640" lvl="1" indent="-229680">
              <a:lnSpc>
                <a:spcPct val="100000"/>
              </a:lnSpc>
              <a:spcBef>
                <a:spcPts val="196"/>
              </a:spcBef>
              <a:buClr>
                <a:srgbClr val="566BE2"/>
              </a:buClr>
              <a:buFont typeface="Carlito"/>
              <a:buChar char="-"/>
              <a:tabLst>
                <a:tab pos="800640" algn="l"/>
                <a:tab pos="801360" algn="l"/>
              </a:tabLst>
            </a:pP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Ensuring </a:t>
            </a:r>
            <a:r>
              <a:rPr lang="en-US" sz="2400" b="0" strike="noStrike" spc="-21">
                <a:solidFill>
                  <a:srgbClr val="313131"/>
                </a:solidFill>
                <a:latin typeface="Arial"/>
              </a:rPr>
              <a:t>quality </a:t>
            </a: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400" b="0" strike="noStrike" spc="-15">
                <a:solidFill>
                  <a:srgbClr val="313131"/>
                </a:solidFill>
                <a:latin typeface="Arial"/>
              </a:rPr>
              <a:t>client </a:t>
            </a:r>
            <a:r>
              <a:rPr lang="en-US" sz="2400" b="0" strike="noStrike" spc="-12">
                <a:solidFill>
                  <a:srgbClr val="313131"/>
                </a:solidFill>
                <a:latin typeface="Arial"/>
              </a:rPr>
              <a:t>submitted</a:t>
            </a:r>
            <a:r>
              <a:rPr lang="en-US" sz="2400" b="0" strike="noStrike" spc="35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35">
                <a:solidFill>
                  <a:srgbClr val="313131"/>
                </a:solidFill>
                <a:latin typeface="Arial"/>
              </a:rPr>
              <a:t>data.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object 2"/>
          <p:cNvSpPr txBox="1"/>
          <p:nvPr/>
        </p:nvSpPr>
        <p:spPr>
          <a:xfrm>
            <a:off x="916200" y="372240"/>
            <a:ext cx="16329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32">
                <a:solidFill>
                  <a:srgbClr val="E20512"/>
                </a:solidFill>
                <a:latin typeface="Arial"/>
              </a:rPr>
              <a:t>E</a:t>
            </a:r>
            <a:r>
              <a:rPr lang="en-US" sz="3200" b="0" strike="noStrike" spc="43">
                <a:solidFill>
                  <a:srgbClr val="E20512"/>
                </a:solidFill>
                <a:latin typeface="Arial"/>
              </a:rPr>
              <a:t>x</a:t>
            </a:r>
            <a:r>
              <a:rPr lang="en-US" sz="3200" b="0" strike="noStrike" spc="12">
                <a:solidFill>
                  <a:srgbClr val="E20512"/>
                </a:solidFill>
                <a:latin typeface="Arial"/>
              </a:rPr>
              <a:t>a</a:t>
            </a:r>
            <a:r>
              <a:rPr lang="en-US" sz="3200" b="0" strike="noStrike" spc="29">
                <a:solidFill>
                  <a:srgbClr val="E20512"/>
                </a:solidFill>
                <a:latin typeface="Arial"/>
              </a:rPr>
              <a:t>m</a:t>
            </a:r>
            <a:r>
              <a:rPr lang="en-US" sz="3200" b="0" strike="noStrike" spc="12">
                <a:solidFill>
                  <a:srgbClr val="E20512"/>
                </a:solidFill>
                <a:latin typeface="Arial"/>
              </a:rPr>
              <a:t>p</a:t>
            </a:r>
            <a:r>
              <a:rPr lang="en-US" sz="3200" b="0" strike="noStrike" spc="32">
                <a:solidFill>
                  <a:srgbClr val="E20512"/>
                </a:solidFill>
                <a:latin typeface="Arial"/>
              </a:rPr>
              <a:t>l</a:t>
            </a:r>
            <a:r>
              <a:rPr lang="en-US" sz="3200" b="0" strike="noStrike" spc="12">
                <a:solidFill>
                  <a:srgbClr val="E20512"/>
                </a:solidFill>
                <a:latin typeface="Arial"/>
              </a:rPr>
              <a:t>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8" name="object 3"/>
          <p:cNvSpPr/>
          <p:nvPr/>
        </p:nvSpPr>
        <p:spPr>
          <a:xfrm>
            <a:off x="1223640" y="1270440"/>
            <a:ext cx="7577280" cy="46767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9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object 2"/>
          <p:cNvSpPr/>
          <p:nvPr/>
        </p:nvSpPr>
        <p:spPr>
          <a:xfrm>
            <a:off x="964800" y="124920"/>
            <a:ext cx="455256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8">
                <a:solidFill>
                  <a:srgbClr val="E20512"/>
                </a:solidFill>
                <a:latin typeface="Arial"/>
              </a:rPr>
              <a:t>API </a:t>
            </a:r>
            <a:r>
              <a:rPr lang="en-US" sz="3200" b="1" strike="noStrike" spc="4">
                <a:solidFill>
                  <a:srgbClr val="E20512"/>
                </a:solidFill>
                <a:latin typeface="Arial"/>
              </a:rPr>
              <a:t>Response</a:t>
            </a:r>
            <a:r>
              <a:rPr lang="en-US" sz="3200" b="1" strike="noStrike" spc="-242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Example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391" name="object 3"/>
          <p:cNvSpPr/>
          <p:nvPr/>
        </p:nvSpPr>
        <p:spPr>
          <a:xfrm>
            <a:off x="1095840" y="719640"/>
            <a:ext cx="395964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strike="noStrike" spc="-1">
                <a:solidFill>
                  <a:srgbClr val="313131"/>
                </a:solidFill>
                <a:latin typeface="Arial"/>
              </a:rPr>
              <a:t>A </a:t>
            </a:r>
            <a:r>
              <a:rPr lang="en-US" sz="1800" b="1" strike="noStrike" spc="12">
                <a:solidFill>
                  <a:srgbClr val="313131"/>
                </a:solidFill>
                <a:latin typeface="Arial"/>
              </a:rPr>
              <a:t>body </a:t>
            </a:r>
            <a:r>
              <a:rPr lang="en-US" sz="1800" b="1" strike="noStrike" spc="9">
                <a:solidFill>
                  <a:srgbClr val="313131"/>
                </a:solidFill>
                <a:latin typeface="Arial"/>
              </a:rPr>
              <a:t>of </a:t>
            </a:r>
            <a:r>
              <a:rPr lang="en-US" sz="1800" b="1" strike="noStrike" spc="4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1800" b="1" strike="noStrike" spc="-12">
                <a:solidFill>
                  <a:srgbClr val="313131"/>
                </a:solidFill>
                <a:latin typeface="Arial"/>
              </a:rPr>
              <a:t>API response</a:t>
            </a:r>
            <a:r>
              <a:rPr lang="en-US" sz="1800" b="1" strike="noStrike" spc="-290">
                <a:solidFill>
                  <a:srgbClr val="313131"/>
                </a:solidFill>
                <a:latin typeface="Arial"/>
              </a:rPr>
              <a:t> </a:t>
            </a:r>
            <a:r>
              <a:rPr lang="en-US" sz="1800" b="1" strike="noStrike" spc="-15">
                <a:solidFill>
                  <a:srgbClr val="313131"/>
                </a:solidFill>
                <a:latin typeface="Arial"/>
              </a:rPr>
              <a:t>example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2" name="object 4"/>
          <p:cNvSpPr/>
          <p:nvPr/>
        </p:nvSpPr>
        <p:spPr>
          <a:xfrm>
            <a:off x="1019160" y="1184040"/>
            <a:ext cx="8086320" cy="52448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object 2"/>
          <p:cNvSpPr/>
          <p:nvPr/>
        </p:nvSpPr>
        <p:spPr>
          <a:xfrm>
            <a:off x="895320" y="1752480"/>
            <a:ext cx="10410480" cy="4781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object 3"/>
          <p:cNvSpPr txBox="1"/>
          <p:nvPr/>
        </p:nvSpPr>
        <p:spPr>
          <a:xfrm>
            <a:off x="937800" y="97200"/>
            <a:ext cx="752184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9">
                <a:solidFill>
                  <a:srgbClr val="E20512"/>
                </a:solidFill>
                <a:latin typeface="Arial"/>
              </a:rPr>
              <a:t>Create</a:t>
            </a:r>
            <a:r>
              <a:rPr lang="en-US" sz="3200" b="0" strike="noStrike" spc="-75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18">
                <a:solidFill>
                  <a:srgbClr val="E20512"/>
                </a:solidFill>
                <a:latin typeface="Arial"/>
              </a:rPr>
              <a:t>JSON</a:t>
            </a:r>
            <a:r>
              <a:rPr lang="en-US" sz="3200" b="0" strike="noStrike" spc="-16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24">
                <a:solidFill>
                  <a:srgbClr val="E20512"/>
                </a:solidFill>
                <a:latin typeface="Arial"/>
              </a:rPr>
              <a:t>Schema</a:t>
            </a:r>
            <a:r>
              <a:rPr lang="en-US" sz="3200" b="0" strike="noStrike" spc="-222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24">
                <a:solidFill>
                  <a:srgbClr val="E20512"/>
                </a:solidFill>
                <a:latin typeface="Arial"/>
              </a:rPr>
              <a:t>from</a:t>
            </a:r>
            <a:r>
              <a:rPr lang="en-US" sz="3200" b="0" strike="noStrike" spc="-287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24">
                <a:solidFill>
                  <a:srgbClr val="E20512"/>
                </a:solidFill>
                <a:latin typeface="Arial"/>
              </a:rPr>
              <a:t>API</a:t>
            </a:r>
            <a:r>
              <a:rPr lang="en-US" sz="3200" b="0" strike="noStrike" spc="-80">
                <a:solidFill>
                  <a:srgbClr val="E20512"/>
                </a:solidFill>
                <a:latin typeface="Arial"/>
              </a:rPr>
              <a:t> </a:t>
            </a:r>
            <a:r>
              <a:rPr lang="en-US" sz="3200" b="0" strike="noStrike" spc="18">
                <a:solidFill>
                  <a:srgbClr val="E20512"/>
                </a:solidFill>
                <a:latin typeface="Arial"/>
              </a:rPr>
              <a:t>response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6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97" name="object 4"/>
          <p:cNvSpPr/>
          <p:nvPr/>
        </p:nvSpPr>
        <p:spPr>
          <a:xfrm>
            <a:off x="937800" y="1003320"/>
            <a:ext cx="10062000" cy="88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>
            <a:spAutoFit/>
          </a:bodyPr>
          <a:lstStyle/>
          <a:p>
            <a:pPr marL="288360" indent="-275760">
              <a:lnSpc>
                <a:spcPts val="2290"/>
              </a:lnSpc>
              <a:spcBef>
                <a:spcPts val="125"/>
              </a:spcBef>
              <a:buClr>
                <a:srgbClr val="313131"/>
              </a:buClr>
              <a:buFont typeface="StarSymbol"/>
              <a:buAutoNum type="arabicPeriod"/>
              <a:tabLst>
                <a:tab pos="289080" algn="l"/>
              </a:tabLst>
            </a:pPr>
            <a:r>
              <a:rPr lang="en-US" sz="2000" b="0" strike="noStrike" spc="9">
                <a:solidFill>
                  <a:srgbClr val="313131"/>
                </a:solidFill>
                <a:latin typeface="Arial"/>
              </a:rPr>
              <a:t>Open online </a:t>
            </a:r>
            <a:r>
              <a:rPr lang="en-US" sz="2000" b="0" strike="noStrike" spc="12">
                <a:solidFill>
                  <a:srgbClr val="313131"/>
                </a:solidFill>
                <a:latin typeface="Arial"/>
              </a:rPr>
              <a:t>tool:</a:t>
            </a:r>
            <a:r>
              <a:rPr lang="en-US" sz="2000" b="0" strike="noStrike" spc="-270">
                <a:solidFill>
                  <a:srgbClr val="E20512"/>
                </a:solidFill>
                <a:latin typeface="Arial"/>
              </a:rPr>
              <a:t> </a:t>
            </a:r>
            <a:r>
              <a:rPr lang="en-US" sz="2000" b="0" u="heavy" strike="noStrike" spc="-1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/>
                <a:hlinkClick r:id="rId3"/>
              </a:rPr>
              <a:t>https://www.liquid-technologies.com/online-json-to-schema-converter</a:t>
            </a:r>
            <a:endParaRPr lang="en-US" sz="2000" b="0" strike="noStrike" spc="-1">
              <a:latin typeface="Arial"/>
            </a:endParaRPr>
          </a:p>
          <a:p>
            <a:pPr marL="288360" indent="-275760">
              <a:lnSpc>
                <a:spcPts val="2290"/>
              </a:lnSpc>
              <a:buClr>
                <a:srgbClr val="313131"/>
              </a:buClr>
              <a:buFont typeface="StarSymbol"/>
              <a:buAutoNum type="arabicPeriod"/>
              <a:tabLst>
                <a:tab pos="289080" algn="l"/>
              </a:tabLst>
            </a:pPr>
            <a:r>
              <a:rPr lang="en-US" sz="2000" b="0" strike="noStrike" spc="18">
                <a:solidFill>
                  <a:srgbClr val="313131"/>
                </a:solidFill>
                <a:latin typeface="Arial"/>
              </a:rPr>
              <a:t>Copy</a:t>
            </a:r>
            <a:r>
              <a:rPr lang="en-US" sz="2000" b="0" strike="noStrike" spc="-72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18">
                <a:solidFill>
                  <a:srgbClr val="313131"/>
                </a:solidFill>
                <a:latin typeface="Arial"/>
              </a:rPr>
              <a:t>json</a:t>
            </a:r>
            <a:r>
              <a:rPr lang="en-US" sz="2000" b="0" strike="noStrike" spc="-11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12">
                <a:solidFill>
                  <a:srgbClr val="313131"/>
                </a:solidFill>
                <a:latin typeface="Arial"/>
              </a:rPr>
              <a:t>object</a:t>
            </a:r>
            <a:r>
              <a:rPr lang="en-US" sz="2000" b="0" strike="noStrike" spc="-75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313131"/>
                </a:solidFill>
                <a:latin typeface="Arial"/>
              </a:rPr>
              <a:t>from</a:t>
            </a:r>
            <a:r>
              <a:rPr lang="en-US" sz="2000" b="0" strike="noStrike" spc="-75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18">
                <a:solidFill>
                  <a:srgbClr val="313131"/>
                </a:solidFill>
                <a:latin typeface="Arial"/>
              </a:rPr>
              <a:t>response</a:t>
            </a:r>
            <a:r>
              <a:rPr lang="en-US" sz="2000" b="0" strike="noStrike" spc="-185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12">
                <a:solidFill>
                  <a:srgbClr val="313131"/>
                </a:solidFill>
                <a:latin typeface="Arial"/>
              </a:rPr>
              <a:t>and</a:t>
            </a:r>
            <a:r>
              <a:rPr lang="en-US" sz="2000" b="0" strike="noStrike" spc="-4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24">
                <a:solidFill>
                  <a:srgbClr val="313131"/>
                </a:solidFill>
                <a:latin typeface="Arial"/>
              </a:rPr>
              <a:t>paste</a:t>
            </a:r>
            <a:r>
              <a:rPr lang="en-US" sz="2000" b="0" strike="noStrike" spc="-11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24">
                <a:solidFill>
                  <a:srgbClr val="313131"/>
                </a:solidFill>
                <a:latin typeface="Arial"/>
              </a:rPr>
              <a:t>to</a:t>
            </a:r>
            <a:r>
              <a:rPr lang="en-US" sz="2000" b="0" strike="noStrike" spc="-11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18">
                <a:solidFill>
                  <a:srgbClr val="313131"/>
                </a:solidFill>
                <a:latin typeface="Arial"/>
              </a:rPr>
              <a:t>the</a:t>
            </a:r>
            <a:r>
              <a:rPr lang="en-US" sz="2000" b="0" strike="noStrike" spc="-35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9">
                <a:solidFill>
                  <a:srgbClr val="313131"/>
                </a:solidFill>
                <a:latin typeface="Arial"/>
              </a:rPr>
              <a:t>online</a:t>
            </a:r>
            <a:r>
              <a:rPr lang="en-US" sz="2000" b="0" strike="noStrike" spc="-11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12">
                <a:solidFill>
                  <a:srgbClr val="313131"/>
                </a:solidFill>
                <a:latin typeface="Arial"/>
              </a:rPr>
              <a:t>tool</a:t>
            </a:r>
            <a:r>
              <a:rPr lang="en-US" sz="2000" b="0" strike="noStrike" spc="-35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24">
                <a:solidFill>
                  <a:srgbClr val="313131"/>
                </a:solidFill>
                <a:latin typeface="Arial"/>
              </a:rPr>
              <a:t>to</a:t>
            </a:r>
            <a:r>
              <a:rPr lang="en-US" sz="2000" b="0" strike="noStrike" spc="-111">
                <a:solidFill>
                  <a:srgbClr val="313131"/>
                </a:solidFill>
                <a:latin typeface="Arial"/>
              </a:rPr>
              <a:t> </a:t>
            </a:r>
            <a:r>
              <a:rPr lang="en-US" sz="2000" b="0" strike="noStrike" spc="9">
                <a:solidFill>
                  <a:srgbClr val="313131"/>
                </a:solidFill>
                <a:latin typeface="Arial"/>
              </a:rPr>
              <a:t>convert.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object 2"/>
          <p:cNvSpPr txBox="1"/>
          <p:nvPr/>
        </p:nvSpPr>
        <p:spPr>
          <a:xfrm>
            <a:off x="916200" y="372240"/>
            <a:ext cx="7063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/>
              </a:rPr>
              <a:t>JSON Schema file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400" name="Picture 5"/>
          <p:cNvPicPr/>
          <p:nvPr/>
        </p:nvPicPr>
        <p:blipFill>
          <a:blip r:embed="rId2"/>
          <a:stretch/>
        </p:blipFill>
        <p:spPr>
          <a:xfrm>
            <a:off x="3200400" y="1066680"/>
            <a:ext cx="5333760" cy="5196600"/>
          </a:xfrm>
          <a:prstGeom prst="rect">
            <a:avLst/>
          </a:prstGeom>
          <a:ln w="0">
            <a:noFill/>
          </a:ln>
        </p:spPr>
      </p:pic>
      <p:sp>
        <p:nvSpPr>
          <p:cNvPr id="401" name="Rectangle 2"/>
          <p:cNvSpPr/>
          <p:nvPr/>
        </p:nvSpPr>
        <p:spPr>
          <a:xfrm>
            <a:off x="626760" y="6263640"/>
            <a:ext cx="52102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https://serverest.dev/#/Usu%C3%A1rios/get_usuarios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object 2"/>
          <p:cNvSpPr txBox="1"/>
          <p:nvPr/>
        </p:nvSpPr>
        <p:spPr>
          <a:xfrm>
            <a:off x="916200" y="372240"/>
            <a:ext cx="7063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/>
              </a:rPr>
              <a:t>Validate Schema </a:t>
            </a:r>
            <a:r>
              <a:rPr lang="en-US" sz="3200" b="0" strike="noStrike" spc="4">
                <a:solidFill>
                  <a:srgbClr val="E20512"/>
                </a:solidFill>
                <a:latin typeface="Arial"/>
              </a:rPr>
              <a:t>(Rest Sharp</a:t>
            </a:r>
            <a:r>
              <a:rPr lang="en-US" sz="3200" b="0" strike="noStrike" spc="18">
                <a:solidFill>
                  <a:srgbClr val="E20512"/>
                </a:solidFill>
                <a:latin typeface="Arial"/>
              </a:rPr>
              <a:t>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3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pic>
        <p:nvPicPr>
          <p:cNvPr id="2" name="Picture 1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10C9CEA-E157-77D6-836B-5E21E943B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53" y="2388528"/>
            <a:ext cx="10077450" cy="2628900"/>
          </a:xfrm>
          <a:prstGeom prst="rect">
            <a:avLst/>
          </a:prstGeom>
        </p:spPr>
      </p:pic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D9B0378-05D8-CF57-FDA6-8F695847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9915"/>
            <a:ext cx="10090078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object 2"/>
          <p:cNvSpPr txBox="1"/>
          <p:nvPr/>
        </p:nvSpPr>
        <p:spPr>
          <a:xfrm>
            <a:off x="916200" y="372240"/>
            <a:ext cx="116244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De</a:t>
            </a:r>
            <a:r>
              <a:rPr lang="en-US" sz="3200" b="1" strike="noStrike" spc="-1">
                <a:solidFill>
                  <a:srgbClr val="E20512"/>
                </a:solidFill>
                <a:latin typeface="Arial"/>
              </a:rPr>
              <a:t>m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o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6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407" name="object 3"/>
          <p:cNvSpPr/>
          <p:nvPr/>
        </p:nvSpPr>
        <p:spPr>
          <a:xfrm>
            <a:off x="917640" y="1496160"/>
            <a:ext cx="9902520" cy="25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30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890"/>
              </a:spcBef>
            </a:pPr>
            <a:r>
              <a:rPr lang="en-US" sz="2400" b="1" strike="noStrike" spc="24">
                <a:solidFill>
                  <a:srgbClr val="313131"/>
                </a:solidFill>
                <a:latin typeface="Arial"/>
              </a:rPr>
              <a:t>Scenario</a:t>
            </a:r>
            <a:r>
              <a:rPr lang="en-US" sz="2400" b="1" strike="noStrike" spc="-151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1" strike="noStrike" spc="12">
                <a:solidFill>
                  <a:srgbClr val="313131"/>
                </a:solidFill>
                <a:latin typeface="Arial"/>
              </a:rPr>
              <a:t>2</a:t>
            </a:r>
            <a:endParaRPr lang="en-US" sz="2400" b="0" strike="noStrike" spc="-1">
              <a:latin typeface="Arial"/>
            </a:endParaRPr>
          </a:p>
          <a:p>
            <a:pPr marL="355680" indent="-343080">
              <a:lnSpc>
                <a:spcPct val="89000"/>
              </a:lnSpc>
              <a:spcBef>
                <a:spcPts val="1001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Use the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POST </a:t>
            </a:r>
            <a:r>
              <a:rPr lang="en-US" sz="2400" b="0" strike="noStrike" spc="-12">
                <a:solidFill>
                  <a:srgbClr val="313131"/>
                </a:solidFill>
                <a:latin typeface="Arial"/>
              </a:rPr>
              <a:t>method </a:t>
            </a:r>
            <a:r>
              <a:rPr lang="en-US" sz="2400" b="0" strike="noStrike" spc="18">
                <a:solidFill>
                  <a:srgbClr val="313131"/>
                </a:solidFill>
                <a:latin typeface="Arial"/>
              </a:rPr>
              <a:t>in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’https://gorest.co.in/public- 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api/users’ to </a:t>
            </a:r>
            <a:r>
              <a:rPr lang="en-US" sz="2400" b="0" strike="noStrike" spc="24">
                <a:solidFill>
                  <a:srgbClr val="313131"/>
                </a:solidFill>
                <a:latin typeface="Arial"/>
              </a:rPr>
              <a:t>create </a:t>
            </a:r>
            <a:r>
              <a:rPr lang="en-US" sz="2400" b="0" strike="noStrike" spc="12">
                <a:solidFill>
                  <a:srgbClr val="313131"/>
                </a:solidFill>
                <a:latin typeface="Arial"/>
              </a:rPr>
              <a:t>a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new</a:t>
            </a:r>
            <a:r>
              <a:rPr lang="en-US" sz="2400" b="0" strike="noStrike" spc="32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user.</a:t>
            </a:r>
            <a:endParaRPr lang="en-US" sz="2400" b="0" strike="noStrike" spc="-1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519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Validate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status</a:t>
            </a:r>
            <a:r>
              <a:rPr lang="en-US" sz="2400" b="0" strike="noStrike" spc="-151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12">
                <a:solidFill>
                  <a:srgbClr val="313131"/>
                </a:solidFill>
                <a:latin typeface="Arial"/>
              </a:rPr>
              <a:t>code.</a:t>
            </a:r>
            <a:endParaRPr lang="en-US" sz="2400" b="0" strike="noStrike" spc="-1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66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/>
              </a:rPr>
              <a:t>Validate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content </a:t>
            </a:r>
            <a:r>
              <a:rPr lang="en-US" sz="2400" b="0" strike="noStrike" spc="18">
                <a:solidFill>
                  <a:srgbClr val="313131"/>
                </a:solidFill>
                <a:latin typeface="Arial"/>
              </a:rPr>
              <a:t>of </a:t>
            </a:r>
            <a:r>
              <a:rPr lang="en-US" sz="2400" b="0" strike="noStrike" spc="-7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400" b="0" strike="noStrike" spc="9">
                <a:solidFill>
                  <a:srgbClr val="313131"/>
                </a:solidFill>
                <a:latin typeface="Arial"/>
              </a:rPr>
              <a:t>response</a:t>
            </a:r>
            <a:r>
              <a:rPr lang="en-US" sz="2400" b="0" strike="noStrike" spc="174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32">
                <a:solidFill>
                  <a:srgbClr val="313131"/>
                </a:solidFill>
                <a:latin typeface="Arial"/>
              </a:rPr>
              <a:t>body.</a:t>
            </a:r>
            <a:endParaRPr lang="en-US" sz="2400" b="0" strike="noStrike" spc="-1">
              <a:latin typeface="Arial"/>
            </a:endParaRPr>
          </a:p>
          <a:p>
            <a:pPr marL="355680" indent="-343080">
              <a:lnSpc>
                <a:spcPct val="100000"/>
              </a:lnSpc>
              <a:spcBef>
                <a:spcPts val="360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12">
                <a:solidFill>
                  <a:srgbClr val="313131"/>
                </a:solidFill>
                <a:latin typeface="Arial"/>
              </a:rPr>
              <a:t>Run </a:t>
            </a:r>
            <a:r>
              <a:rPr lang="en-US" sz="2400" b="0" strike="noStrike" spc="-1">
                <a:solidFill>
                  <a:srgbClr val="313131"/>
                </a:solidFill>
                <a:latin typeface="Arial"/>
              </a:rPr>
              <a:t>and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generate</a:t>
            </a:r>
            <a:r>
              <a:rPr lang="en-US" sz="2400" b="0" strike="noStrike" spc="344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4">
                <a:solidFill>
                  <a:srgbClr val="313131"/>
                </a:solidFill>
                <a:latin typeface="Arial"/>
              </a:rPr>
              <a:t>report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object 2"/>
          <p:cNvSpPr/>
          <p:nvPr/>
        </p:nvSpPr>
        <p:spPr>
          <a:xfrm>
            <a:off x="8514000" y="2017800"/>
            <a:ext cx="2889000" cy="14983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1" name="object 3"/>
          <p:cNvSpPr txBox="1"/>
          <p:nvPr/>
        </p:nvSpPr>
        <p:spPr>
          <a:xfrm>
            <a:off x="916200" y="372240"/>
            <a:ext cx="171864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32">
                <a:solidFill>
                  <a:srgbClr val="E20512"/>
                </a:solidFill>
                <a:latin typeface="Arial"/>
              </a:rPr>
              <a:t>E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xe</a:t>
            </a:r>
            <a:r>
              <a:rPr lang="en-US" sz="3200" b="1" strike="noStrike" spc="29">
                <a:solidFill>
                  <a:srgbClr val="E20512"/>
                </a:solidFill>
                <a:latin typeface="Arial"/>
              </a:rPr>
              <a:t>r</a:t>
            </a:r>
            <a:r>
              <a:rPr lang="en-US" sz="3200" b="1" strike="noStrike" spc="9">
                <a:solidFill>
                  <a:srgbClr val="E20512"/>
                </a:solidFill>
                <a:latin typeface="Arial"/>
              </a:rPr>
              <a:t>ci</a:t>
            </a:r>
            <a:r>
              <a:rPr lang="en-US" sz="3200" b="1" strike="noStrike" spc="18">
                <a:solidFill>
                  <a:srgbClr val="E20512"/>
                </a:solidFill>
                <a:latin typeface="Arial"/>
              </a:rPr>
              <a:t>s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383" name="object 4"/>
          <p:cNvSpPr/>
          <p:nvPr/>
        </p:nvSpPr>
        <p:spPr>
          <a:xfrm>
            <a:off x="990720" y="1905120"/>
            <a:ext cx="6953000" cy="18375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8160" rIns="0" bIns="0" anchor="t">
            <a:spAutoFit/>
          </a:bodyPr>
          <a:lstStyle/>
          <a:p>
            <a:pPr marL="12065">
              <a:spcBef>
                <a:spcPts val="1009"/>
              </a:spcBef>
            </a:pPr>
            <a:r>
              <a:rPr lang="en-US" sz="2400" b="0" strike="noStrike" spc="18" dirty="0">
                <a:solidFill>
                  <a:srgbClr val="313131"/>
                </a:solidFill>
                <a:latin typeface="Arial"/>
              </a:rPr>
              <a:t>1.</a:t>
            </a:r>
            <a:r>
              <a:rPr lang="en-US" sz="2400" spc="18" dirty="0">
                <a:solidFill>
                  <a:srgbClr val="313131"/>
                </a:solidFill>
                <a:latin typeface="Arial"/>
              </a:rPr>
              <a:t> API Testing for https://demoqa.com/Account/v1/GenerateToken</a:t>
            </a:r>
            <a:endParaRPr lang="en-US" sz="2400" spc="-1">
              <a:solidFill>
                <a:srgbClr val="000000"/>
              </a:solidFill>
              <a:latin typeface="Arial"/>
            </a:endParaRPr>
          </a:p>
          <a:p>
            <a:pPr marL="12065">
              <a:spcBef>
                <a:spcPts val="1009"/>
              </a:spcBef>
            </a:pPr>
            <a:r>
              <a:rPr lang="en-US" sz="2400" spc="9" dirty="0">
                <a:solidFill>
                  <a:srgbClr val="313131"/>
                </a:solidFill>
                <a:latin typeface="Arial"/>
              </a:rPr>
              <a:t>2. </a:t>
            </a:r>
            <a:r>
              <a:rPr lang="en-US" sz="2400" b="0" strike="noStrike" spc="9" dirty="0">
                <a:solidFill>
                  <a:srgbClr val="313131"/>
                </a:solidFill>
                <a:latin typeface="Arial"/>
              </a:rPr>
              <a:t>Get token</a:t>
            </a:r>
            <a:r>
              <a:rPr lang="en-US" sz="2400" b="0" strike="noStrike" spc="49" dirty="0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7" dirty="0">
                <a:solidFill>
                  <a:srgbClr val="313131"/>
                </a:solidFill>
                <a:latin typeface="Arial"/>
              </a:rPr>
              <a:t>(print)</a:t>
            </a:r>
            <a:endParaRPr lang="en-US" sz="2400" b="0" strike="noStrike" spc="-1">
              <a:latin typeface="Arial"/>
            </a:endParaRPr>
          </a:p>
          <a:p>
            <a:pPr marL="12700">
              <a:spcBef>
                <a:spcPts val="845"/>
              </a:spcBef>
              <a:buClr>
                <a:srgbClr val="313131"/>
              </a:buClr>
              <a:tabLst>
                <a:tab pos="241200" algn="l"/>
              </a:tabLst>
            </a:pPr>
            <a:r>
              <a:rPr lang="en-US" sz="2400" spc="-12" dirty="0">
                <a:solidFill>
                  <a:srgbClr val="313131"/>
                </a:solidFill>
                <a:latin typeface="Arial"/>
              </a:rPr>
              <a:t>3. </a:t>
            </a:r>
            <a:r>
              <a:rPr lang="en-US" sz="2400" b="0" strike="noStrike" spc="-12" dirty="0">
                <a:solidFill>
                  <a:srgbClr val="313131"/>
                </a:solidFill>
                <a:latin typeface="Arial"/>
              </a:rPr>
              <a:t>Verify </a:t>
            </a:r>
            <a:r>
              <a:rPr lang="en-US" sz="2400" b="0" strike="noStrike" spc="-7" dirty="0">
                <a:solidFill>
                  <a:srgbClr val="313131"/>
                </a:solidFill>
                <a:latin typeface="Arial"/>
              </a:rPr>
              <a:t>the </a:t>
            </a:r>
            <a:r>
              <a:rPr lang="en-US" sz="2400" b="0" strike="noStrike" spc="9" dirty="0">
                <a:solidFill>
                  <a:srgbClr val="313131"/>
                </a:solidFill>
                <a:latin typeface="Arial"/>
              </a:rPr>
              <a:t>token </a:t>
            </a:r>
            <a:r>
              <a:rPr lang="en-US" sz="2400" b="0" strike="noStrike" spc="12" dirty="0">
                <a:solidFill>
                  <a:srgbClr val="313131"/>
                </a:solidFill>
                <a:latin typeface="Arial"/>
              </a:rPr>
              <a:t>is </a:t>
            </a:r>
            <a:r>
              <a:rPr lang="en-US" sz="2400" b="0" strike="noStrike" spc="-1" dirty="0">
                <a:solidFill>
                  <a:srgbClr val="313131"/>
                </a:solidFill>
                <a:latin typeface="Arial"/>
              </a:rPr>
              <a:t>not</a:t>
            </a:r>
            <a:r>
              <a:rPr lang="en-US" sz="2400" b="0" strike="noStrike" spc="273" dirty="0">
                <a:solidFill>
                  <a:srgbClr val="313131"/>
                </a:solidFill>
                <a:latin typeface="Arial"/>
              </a:rPr>
              <a:t> </a:t>
            </a:r>
            <a:r>
              <a:rPr lang="en-US" sz="2400" b="0" strike="noStrike" spc="-32" dirty="0">
                <a:solidFill>
                  <a:srgbClr val="313131"/>
                </a:solidFill>
                <a:latin typeface="Arial"/>
              </a:rPr>
              <a:t>null</a:t>
            </a: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Content Placeholder 4"/>
          <p:cNvSpPr txBox="1"/>
          <p:nvPr/>
        </p:nvSpPr>
        <p:spPr>
          <a:xfrm>
            <a:off x="7428600" y="927360"/>
            <a:ext cx="4495680" cy="36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Framework Architecture</a:t>
            </a: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Build Framework Core Component</a:t>
            </a: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Build Framework Test Component</a:t>
            </a:r>
          </a:p>
        </p:txBody>
      </p:sp>
      <p:sp>
        <p:nvSpPr>
          <p:cNvPr id="409" name="Content Placeholder 5"/>
          <p:cNvSpPr txBox="1"/>
          <p:nvPr/>
        </p:nvSpPr>
        <p:spPr>
          <a:xfrm>
            <a:off x="1515960" y="1376280"/>
            <a:ext cx="537084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4000" b="1" spc="-1" dirty="0">
                <a:solidFill>
                  <a:srgbClr val="FFFFFF"/>
                </a:solidFill>
                <a:latin typeface="Arial"/>
              </a:rPr>
              <a:t>4. </a:t>
            </a:r>
            <a:r>
              <a:rPr lang="en-US" sz="4000" b="1" strike="noStrike" spc="-1" dirty="0">
                <a:solidFill>
                  <a:srgbClr val="FFFFFF"/>
                </a:solidFill>
                <a:latin typeface="Arial"/>
              </a:rPr>
              <a:t>Steps for building an automation framework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ontent Placeholder 3"/>
          <p:cNvSpPr txBox="1"/>
          <p:nvPr/>
        </p:nvSpPr>
        <p:spPr>
          <a:xfrm>
            <a:off x="1515960" y="1376280"/>
            <a:ext cx="612000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Arial"/>
              </a:rPr>
              <a:t>Framework Architecture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itle 1"/>
          <p:cNvSpPr txBox="1"/>
          <p:nvPr/>
        </p:nvSpPr>
        <p:spPr>
          <a:xfrm>
            <a:off x="838080" y="40536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E30613"/>
                </a:solidFill>
                <a:latin typeface="Arial"/>
              </a:rPr>
              <a:t>Framework Architecture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Rounded Rectangle 4"/>
          <p:cNvSpPr/>
          <p:nvPr/>
        </p:nvSpPr>
        <p:spPr>
          <a:xfrm>
            <a:off x="3898080" y="3176280"/>
            <a:ext cx="3512880" cy="3272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/>
          </a:gradFill>
          <a:ln>
            <a:solidFill>
              <a:srgbClr val="C0504D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Framework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413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4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15" name="Picture 7"/>
          <p:cNvPicPr/>
          <p:nvPr/>
        </p:nvPicPr>
        <p:blipFill>
          <a:blip r:embed="rId3"/>
          <a:stretch/>
        </p:blipFill>
        <p:spPr>
          <a:xfrm>
            <a:off x="8744040" y="4017240"/>
            <a:ext cx="2609640" cy="1590480"/>
          </a:xfrm>
          <a:prstGeom prst="rect">
            <a:avLst/>
          </a:prstGeom>
          <a:ln w="0">
            <a:noFill/>
          </a:ln>
        </p:spPr>
      </p:pic>
      <p:sp>
        <p:nvSpPr>
          <p:cNvPr id="416" name="Straight Arrow Connector 9"/>
          <p:cNvSpPr/>
          <p:nvPr/>
        </p:nvSpPr>
        <p:spPr>
          <a:xfrm flipH="1" flipV="1">
            <a:off x="2831040" y="4811760"/>
            <a:ext cx="10659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C0504D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</p:sp>
      <p:pic>
        <p:nvPicPr>
          <p:cNvPr id="417" name="Picture 6" descr="CICD Toolset - A Quick Comparison - Perficient Blogs"/>
          <p:cNvPicPr/>
          <p:nvPr/>
        </p:nvPicPr>
        <p:blipFill>
          <a:blip r:embed="rId4"/>
          <a:stretch/>
        </p:blipFill>
        <p:spPr>
          <a:xfrm>
            <a:off x="4235040" y="944280"/>
            <a:ext cx="2837880" cy="1594800"/>
          </a:xfrm>
          <a:prstGeom prst="rect">
            <a:avLst/>
          </a:prstGeom>
          <a:ln w="0">
            <a:noFill/>
          </a:ln>
        </p:spPr>
      </p:pic>
      <p:sp>
        <p:nvSpPr>
          <p:cNvPr id="418" name="Straight Arrow Connector 11"/>
          <p:cNvSpPr/>
          <p:nvPr/>
        </p:nvSpPr>
        <p:spPr>
          <a:xfrm flipH="1" flipV="1">
            <a:off x="5653440" y="2539440"/>
            <a:ext cx="360" cy="636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C0504D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</p:sp>
      <p:pic>
        <p:nvPicPr>
          <p:cNvPr id="419" name="Picture 13"/>
          <p:cNvPicPr/>
          <p:nvPr/>
        </p:nvPicPr>
        <p:blipFill>
          <a:blip r:embed="rId5"/>
          <a:stretch/>
        </p:blipFill>
        <p:spPr>
          <a:xfrm>
            <a:off x="460440" y="3952080"/>
            <a:ext cx="2371320" cy="1720440"/>
          </a:xfrm>
          <a:prstGeom prst="rect">
            <a:avLst/>
          </a:prstGeom>
          <a:ln w="0">
            <a:noFill/>
          </a:ln>
        </p:spPr>
      </p:pic>
      <p:sp>
        <p:nvSpPr>
          <p:cNvPr id="420" name="Straight Arrow Connector 15"/>
          <p:cNvSpPr/>
          <p:nvPr/>
        </p:nvSpPr>
        <p:spPr>
          <a:xfrm>
            <a:off x="7411320" y="4812480"/>
            <a:ext cx="13320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C0504D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</p:sp>
      <p:pic>
        <p:nvPicPr>
          <p:cNvPr id="421" name="Picture 8" descr="Getting started with TestNG - DEV Community"/>
          <p:cNvPicPr/>
          <p:nvPr/>
        </p:nvPicPr>
        <p:blipFill>
          <a:blip r:embed="rId6"/>
          <a:stretch/>
        </p:blipFill>
        <p:spPr>
          <a:xfrm>
            <a:off x="3898080" y="3843360"/>
            <a:ext cx="1549440" cy="650520"/>
          </a:xfrm>
          <a:prstGeom prst="rect">
            <a:avLst/>
          </a:prstGeom>
          <a:ln w="0">
            <a:noFill/>
          </a:ln>
        </p:spPr>
      </p:pic>
      <p:pic>
        <p:nvPicPr>
          <p:cNvPr id="422" name="Picture 10" descr="Selenium with Python — Selenium Python Bindings 2 documentation"/>
          <p:cNvPicPr/>
          <p:nvPr/>
        </p:nvPicPr>
        <p:blipFill>
          <a:blip r:embed="rId7"/>
          <a:stretch/>
        </p:blipFill>
        <p:spPr>
          <a:xfrm>
            <a:off x="5784120" y="3843360"/>
            <a:ext cx="1121400" cy="1014840"/>
          </a:xfrm>
          <a:prstGeom prst="rect">
            <a:avLst/>
          </a:prstGeom>
          <a:ln w="0">
            <a:noFill/>
          </a:ln>
        </p:spPr>
      </p:pic>
      <p:pic>
        <p:nvPicPr>
          <p:cNvPr id="423" name="Picture 14" descr="Appium Logo PNG Transparent &amp;amp; SVG Vector - Freebie Supply"/>
          <p:cNvPicPr/>
          <p:nvPr/>
        </p:nvPicPr>
        <p:blipFill>
          <a:blip r:embed="rId8"/>
          <a:stretch/>
        </p:blipFill>
        <p:spPr>
          <a:xfrm>
            <a:off x="5880960" y="5029560"/>
            <a:ext cx="927720" cy="931680"/>
          </a:xfrm>
          <a:prstGeom prst="rect">
            <a:avLst/>
          </a:prstGeom>
          <a:ln w="0">
            <a:noFill/>
          </a:ln>
        </p:spPr>
      </p:pic>
      <p:pic>
        <p:nvPicPr>
          <p:cNvPr id="424" name="Picture 18" descr="File:Apache Maven logo.svg - Wikimedia Commons"/>
          <p:cNvPicPr/>
          <p:nvPr/>
        </p:nvPicPr>
        <p:blipFill>
          <a:blip r:embed="rId9"/>
          <a:stretch/>
        </p:blipFill>
        <p:spPr>
          <a:xfrm>
            <a:off x="7855920" y="10894680"/>
            <a:ext cx="278280" cy="70200"/>
          </a:xfrm>
          <a:prstGeom prst="rect">
            <a:avLst/>
          </a:prstGeom>
          <a:ln w="0">
            <a:noFill/>
          </a:ln>
        </p:spPr>
      </p:pic>
      <p:sp>
        <p:nvSpPr>
          <p:cNvPr id="425" name="TextBox 20"/>
          <p:cNvSpPr/>
          <p:nvPr/>
        </p:nvSpPr>
        <p:spPr>
          <a:xfrm>
            <a:off x="838080" y="1372320"/>
            <a:ext cx="2450160" cy="161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 spc="-1">
                <a:solidFill>
                  <a:srgbClr val="000000"/>
                </a:solidFill>
                <a:latin typeface="Calibri"/>
              </a:rPr>
              <a:t>Choose Toolset:</a:t>
            </a: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Test Runner</a:t>
            </a: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Automation Tool</a:t>
            </a: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Build Tool</a:t>
            </a:r>
            <a:endParaRPr lang="en-US" sz="20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Report Tool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426" name="Rounded Rectangle 28"/>
          <p:cNvSpPr/>
          <p:nvPr/>
        </p:nvSpPr>
        <p:spPr>
          <a:xfrm>
            <a:off x="4077720" y="5328360"/>
            <a:ext cx="1370160" cy="55872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49">
                <a:solidFill>
                  <a:srgbClr val="EEECE1"/>
                </a:solidFill>
                <a:latin typeface="Calibri"/>
              </a:rPr>
              <a:t>Extent Report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427" name="Picture 2" descr="See the source image"/>
          <p:cNvPicPr/>
          <p:nvPr/>
        </p:nvPicPr>
        <p:blipFill>
          <a:blip r:embed="rId10"/>
          <a:stretch/>
        </p:blipFill>
        <p:spPr>
          <a:xfrm>
            <a:off x="4030920" y="4601520"/>
            <a:ext cx="1541160" cy="559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itle 1"/>
          <p:cNvSpPr txBox="1"/>
          <p:nvPr/>
        </p:nvSpPr>
        <p:spPr>
          <a:xfrm>
            <a:off x="838080" y="40536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E30613"/>
                </a:solidFill>
                <a:latin typeface="Arial"/>
              </a:rPr>
              <a:t>Framework Architecture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9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1" name="Rounded Rectangle 2"/>
          <p:cNvSpPr/>
          <p:nvPr/>
        </p:nvSpPr>
        <p:spPr>
          <a:xfrm>
            <a:off x="1146960" y="942840"/>
            <a:ext cx="4699800" cy="5553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/>
          </a:gradFill>
          <a:ln>
            <a:solidFill>
              <a:srgbClr val="00B0F0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Framework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2" name="Rounded Rectangle 8"/>
          <p:cNvSpPr/>
          <p:nvPr/>
        </p:nvSpPr>
        <p:spPr>
          <a:xfrm>
            <a:off x="1532160" y="4956840"/>
            <a:ext cx="3978000" cy="115812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vertOverflow="overflow" horzOverflow="overflow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Test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3" name="Rounded Rectangle 10"/>
          <p:cNvSpPr/>
          <p:nvPr/>
        </p:nvSpPr>
        <p:spPr>
          <a:xfrm>
            <a:off x="1508040" y="1540080"/>
            <a:ext cx="3978000" cy="319320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4F81B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Core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4" name="Rounded Rectangle 12"/>
          <p:cNvSpPr/>
          <p:nvPr/>
        </p:nvSpPr>
        <p:spPr>
          <a:xfrm>
            <a:off x="2053440" y="211968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Log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5" name="Rounded Rectangle 20"/>
          <p:cNvSpPr/>
          <p:nvPr/>
        </p:nvSpPr>
        <p:spPr>
          <a:xfrm>
            <a:off x="3649680" y="21103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Integration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6" name="Rounded Rectangle 21"/>
          <p:cNvSpPr/>
          <p:nvPr/>
        </p:nvSpPr>
        <p:spPr>
          <a:xfrm>
            <a:off x="3649680" y="28555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Driver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7" name="Rounded Rectangle 22"/>
          <p:cNvSpPr/>
          <p:nvPr/>
        </p:nvSpPr>
        <p:spPr>
          <a:xfrm>
            <a:off x="3649680" y="363024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Element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8" name="Rounded Rectangle 23"/>
          <p:cNvSpPr/>
          <p:nvPr/>
        </p:nvSpPr>
        <p:spPr>
          <a:xfrm>
            <a:off x="2053440" y="28555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Utilities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39" name="Rounded Rectangle 25"/>
          <p:cNvSpPr/>
          <p:nvPr/>
        </p:nvSpPr>
        <p:spPr>
          <a:xfrm>
            <a:off x="2085480" y="362736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API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0" name="Rounded Rectangle 26"/>
          <p:cNvSpPr/>
          <p:nvPr/>
        </p:nvSpPr>
        <p:spPr>
          <a:xfrm>
            <a:off x="2831400" y="42523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Report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1" name="Rounded Rectangle 27"/>
          <p:cNvSpPr/>
          <p:nvPr/>
        </p:nvSpPr>
        <p:spPr>
          <a:xfrm>
            <a:off x="1740600" y="520776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Page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2" name="Rounded Rectangle 28"/>
          <p:cNvSpPr/>
          <p:nvPr/>
        </p:nvSpPr>
        <p:spPr>
          <a:xfrm>
            <a:off x="3827880" y="520956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Test case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3" name="Rounded Rectangle 29"/>
          <p:cNvSpPr/>
          <p:nvPr/>
        </p:nvSpPr>
        <p:spPr>
          <a:xfrm>
            <a:off x="1740600" y="570060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Data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4" name="Rounded Rectangle 30"/>
          <p:cNvSpPr/>
          <p:nvPr/>
        </p:nvSpPr>
        <p:spPr>
          <a:xfrm>
            <a:off x="3852000" y="566460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Helper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5" name="Straight Arrow Connector 16"/>
          <p:cNvSpPr/>
          <p:nvPr/>
        </p:nvSpPr>
        <p:spPr>
          <a:xfrm flipH="1" flipV="1">
            <a:off x="5183640" y="5408280"/>
            <a:ext cx="2513520" cy="18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</p:sp>
      <p:sp>
        <p:nvSpPr>
          <p:cNvPr id="446" name="Rounded Rectangle 33"/>
          <p:cNvSpPr/>
          <p:nvPr/>
        </p:nvSpPr>
        <p:spPr>
          <a:xfrm>
            <a:off x="7782480" y="4240080"/>
            <a:ext cx="1370160" cy="558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Extent Report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47" name="Straight Arrow Connector 35"/>
          <p:cNvSpPr/>
          <p:nvPr/>
        </p:nvSpPr>
        <p:spPr>
          <a:xfrm>
            <a:off x="4163040" y="4519440"/>
            <a:ext cx="36190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</p:sp>
      <p:pic>
        <p:nvPicPr>
          <p:cNvPr id="448" name="Picture 10" descr="Selenium with Python — Selenium Python Bindings 2 documentation"/>
          <p:cNvPicPr/>
          <p:nvPr/>
        </p:nvPicPr>
        <p:blipFill>
          <a:blip r:embed="rId3"/>
          <a:stretch/>
        </p:blipFill>
        <p:spPr>
          <a:xfrm>
            <a:off x="7782480" y="2645280"/>
            <a:ext cx="915120" cy="828000"/>
          </a:xfrm>
          <a:prstGeom prst="rect">
            <a:avLst/>
          </a:prstGeom>
          <a:ln w="0">
            <a:noFill/>
          </a:ln>
        </p:spPr>
      </p:pic>
      <p:sp>
        <p:nvSpPr>
          <p:cNvPr id="449" name="Straight Arrow Connector 42"/>
          <p:cNvSpPr/>
          <p:nvPr/>
        </p:nvSpPr>
        <p:spPr>
          <a:xfrm>
            <a:off x="4980960" y="3056040"/>
            <a:ext cx="2801160" cy="3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</p:sp>
      <p:pic>
        <p:nvPicPr>
          <p:cNvPr id="450" name="Picture 2" descr="Free Jira Flat Logo Icon - Available in SVG, PNG, EPS, AI &amp;amp; Icon fonts"/>
          <p:cNvPicPr/>
          <p:nvPr/>
        </p:nvPicPr>
        <p:blipFill>
          <a:blip r:embed="rId4"/>
          <a:stretch/>
        </p:blipFill>
        <p:spPr>
          <a:xfrm>
            <a:off x="7697520" y="1710360"/>
            <a:ext cx="1211400" cy="1211400"/>
          </a:xfrm>
          <a:prstGeom prst="rect">
            <a:avLst/>
          </a:prstGeom>
          <a:ln w="0">
            <a:noFill/>
          </a:ln>
        </p:spPr>
      </p:pic>
      <p:sp>
        <p:nvSpPr>
          <p:cNvPr id="451" name="Straight Arrow Connector 46"/>
          <p:cNvSpPr/>
          <p:nvPr/>
        </p:nvSpPr>
        <p:spPr>
          <a:xfrm>
            <a:off x="4980960" y="2310840"/>
            <a:ext cx="2716200" cy="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</p:sp>
      <p:sp>
        <p:nvSpPr>
          <p:cNvPr id="452" name="Rounded Rectangle 32"/>
          <p:cNvSpPr/>
          <p:nvPr/>
        </p:nvSpPr>
        <p:spPr>
          <a:xfrm>
            <a:off x="7782480" y="5152320"/>
            <a:ext cx="1370160" cy="558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/>
          </a:gradFill>
          <a:ln>
            <a:solidFill>
              <a:srgbClr val="4A7EBB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NUnit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 1"/>
          <p:cNvSpPr txBox="1"/>
          <p:nvPr/>
        </p:nvSpPr>
        <p:spPr>
          <a:xfrm>
            <a:off x="838080" y="40536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E30613"/>
                </a:solidFill>
                <a:latin typeface="Arial"/>
              </a:rPr>
              <a:t>Framework Architecture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4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5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6" name="Right Brace 4"/>
          <p:cNvSpPr/>
          <p:nvPr/>
        </p:nvSpPr>
        <p:spPr>
          <a:xfrm>
            <a:off x="4622760" y="1721880"/>
            <a:ext cx="1186920" cy="1491480"/>
          </a:xfrm>
          <a:prstGeom prst="rightBrace">
            <a:avLst>
              <a:gd name="adj1" fmla="val 8333"/>
              <a:gd name="adj2" fmla="val 48925"/>
            </a:avLst>
          </a:prstGeom>
          <a:noFill/>
          <a:ln>
            <a:solidFill>
              <a:srgbClr val="9BBB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/>
        </p:style>
      </p:sp>
      <p:sp>
        <p:nvSpPr>
          <p:cNvPr id="457" name="Rounded Rectangle 32"/>
          <p:cNvSpPr/>
          <p:nvPr/>
        </p:nvSpPr>
        <p:spPr>
          <a:xfrm>
            <a:off x="5880960" y="2151000"/>
            <a:ext cx="1370160" cy="55872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49">
                <a:solidFill>
                  <a:srgbClr val="FF0000"/>
                </a:solidFill>
                <a:latin typeface="Calibri"/>
              </a:rPr>
              <a:t>Core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458" name="Right Brace 34"/>
          <p:cNvSpPr/>
          <p:nvPr/>
        </p:nvSpPr>
        <p:spPr>
          <a:xfrm>
            <a:off x="4853520" y="3473280"/>
            <a:ext cx="1242000" cy="2093400"/>
          </a:xfrm>
          <a:prstGeom prst="rightBrace">
            <a:avLst>
              <a:gd name="adj1" fmla="val 8333"/>
              <a:gd name="adj2" fmla="val 48925"/>
            </a:avLst>
          </a:prstGeom>
          <a:noFill/>
          <a:ln>
            <a:solidFill>
              <a:srgbClr val="9BBB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/>
        </p:style>
      </p:sp>
      <p:sp>
        <p:nvSpPr>
          <p:cNvPr id="459" name="Rounded Rectangle 36"/>
          <p:cNvSpPr/>
          <p:nvPr/>
        </p:nvSpPr>
        <p:spPr>
          <a:xfrm>
            <a:off x="6095880" y="4240440"/>
            <a:ext cx="1370160" cy="55872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49">
                <a:solidFill>
                  <a:srgbClr val="FF0000"/>
                </a:solidFill>
                <a:latin typeface="Calibri"/>
              </a:rPr>
              <a:t>Test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460" name="Picture 2"/>
          <p:cNvPicPr/>
          <p:nvPr/>
        </p:nvPicPr>
        <p:blipFill>
          <a:blip r:embed="rId3"/>
          <a:stretch/>
        </p:blipFill>
        <p:spPr>
          <a:xfrm>
            <a:off x="1789560" y="1275840"/>
            <a:ext cx="2761560" cy="4647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ontent Placeholder 4"/>
          <p:cNvSpPr txBox="1"/>
          <p:nvPr/>
        </p:nvSpPr>
        <p:spPr>
          <a:xfrm>
            <a:off x="7428600" y="747000"/>
            <a:ext cx="4495680" cy="36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323232"/>
                </a:solidFill>
                <a:latin typeface="Calibri"/>
                <a:ea typeface="Arial"/>
              </a:rPr>
              <a:t>Driver (Skip)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323232"/>
                </a:solidFill>
                <a:latin typeface="Calibri"/>
                <a:ea typeface="Arial"/>
              </a:rPr>
              <a:t>Element (Skip)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323232"/>
                </a:solidFill>
                <a:latin typeface="Calibri"/>
                <a:ea typeface="Arial"/>
              </a:rPr>
              <a:t>API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323232"/>
                </a:solidFill>
                <a:latin typeface="Calibri"/>
                <a:ea typeface="Arial"/>
              </a:rPr>
              <a:t>Report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2" name="Content Placeholder 5"/>
          <p:cNvSpPr txBox="1"/>
          <p:nvPr/>
        </p:nvSpPr>
        <p:spPr>
          <a:xfrm>
            <a:off x="1515960" y="1376280"/>
            <a:ext cx="409068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Arial"/>
              </a:rPr>
              <a:t>Build framework core component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E30613"/>
                </a:solidFill>
                <a:latin typeface="Arial"/>
              </a:rPr>
              <a:t>API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4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6" name="Rounded Rectangle 2"/>
          <p:cNvSpPr/>
          <p:nvPr/>
        </p:nvSpPr>
        <p:spPr>
          <a:xfrm>
            <a:off x="4379400" y="1243440"/>
            <a:ext cx="2935440" cy="384984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solidFill>
              <a:srgbClr val="FFFFFF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Calibri"/>
              </a:rPr>
              <a:t>API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67" name="Rounded Rectangle 9"/>
          <p:cNvSpPr/>
          <p:nvPr/>
        </p:nvSpPr>
        <p:spPr>
          <a:xfrm>
            <a:off x="4690080" y="1804320"/>
            <a:ext cx="2309760" cy="12027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C4B4B"/>
              </a:gs>
              <a:gs pos="100000">
                <a:srgbClr val="E8000D"/>
              </a:gs>
            </a:gsLst>
            <a:lin ang="5400000"/>
          </a:gradFill>
          <a:ln w="6350">
            <a:solidFill>
              <a:srgbClr val="E3061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Uri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Method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Header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Parameter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468" name="Rounded Rectangle 10"/>
          <p:cNvSpPr/>
          <p:nvPr/>
        </p:nvSpPr>
        <p:spPr>
          <a:xfrm>
            <a:off x="4692240" y="3168360"/>
            <a:ext cx="2309760" cy="15476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C4B4B"/>
              </a:gs>
              <a:gs pos="100000">
                <a:srgbClr val="E8000D"/>
              </a:gs>
            </a:gsLst>
            <a:lin ang="5400000"/>
          </a:gradFill>
          <a:ln w="6350">
            <a:solidFill>
              <a:srgbClr val="E3061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addParam()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addHeader()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sendRequest()</a:t>
            </a:r>
            <a:endParaRPr lang="en-US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 spc="-1">
                <a:solidFill>
                  <a:srgbClr val="FFFFFF"/>
                </a:solidFill>
                <a:latin typeface="Arial"/>
              </a:rPr>
              <a:t>…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E30613"/>
                </a:solidFill>
                <a:latin typeface="Arial"/>
              </a:rPr>
              <a:t>Report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0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Rectangle 9"/>
          <p:cNvSpPr/>
          <p:nvPr/>
        </p:nvSpPr>
        <p:spPr>
          <a:xfrm>
            <a:off x="2144520" y="5688720"/>
            <a:ext cx="8763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sng" strike="noStrike" spc="-1">
                <a:solidFill>
                  <a:srgbClr val="0000FF"/>
                </a:solidFill>
                <a:uFillTx/>
                <a:latin typeface="Calibri"/>
                <a:hlinkClick r:id="rId3"/>
              </a:rPr>
              <a:t>https://www.ecanarys.com/Blogs/ArticleID/305/Extent-Reports-in-Selenium-CSharp-C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473" name="Picture 2"/>
          <p:cNvPicPr/>
          <p:nvPr/>
        </p:nvPicPr>
        <p:blipFill>
          <a:blip r:embed="rId4"/>
          <a:stretch/>
        </p:blipFill>
        <p:spPr>
          <a:xfrm>
            <a:off x="914400" y="1066680"/>
            <a:ext cx="10555920" cy="4688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ontent Placeholder 4"/>
          <p:cNvSpPr txBox="1"/>
          <p:nvPr/>
        </p:nvSpPr>
        <p:spPr>
          <a:xfrm>
            <a:off x="7428600" y="747000"/>
            <a:ext cx="4495680" cy="36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323232"/>
                </a:solidFill>
                <a:latin typeface="Calibri"/>
                <a:ea typeface="Arial"/>
              </a:rPr>
              <a:t>Test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323232"/>
                </a:solidFill>
                <a:latin typeface="Calibri"/>
                <a:ea typeface="Arial"/>
              </a:rPr>
              <a:t>Page (skip)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323232"/>
                </a:solidFill>
                <a:latin typeface="Calibri"/>
                <a:ea typeface="Arial"/>
              </a:rPr>
              <a:t>API Services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5" name="Content Placeholder 5"/>
          <p:cNvSpPr txBox="1"/>
          <p:nvPr/>
        </p:nvSpPr>
        <p:spPr>
          <a:xfrm>
            <a:off x="1515960" y="1376280"/>
            <a:ext cx="409068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Arial"/>
              </a:rPr>
              <a:t>Build test component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E30613"/>
                </a:solidFill>
                <a:latin typeface="Arial"/>
              </a:rPr>
              <a:t>Test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7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8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TextBox 8"/>
          <p:cNvSpPr/>
          <p:nvPr/>
        </p:nvSpPr>
        <p:spPr>
          <a:xfrm>
            <a:off x="838080" y="1331640"/>
            <a:ext cx="10779840" cy="173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1. Create TestBase Class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2. Create test classes to contain test case</a:t>
            </a:r>
            <a:endParaRPr lang="en-US" sz="1800" b="0" strike="noStrike" spc="-1"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Add all test case related to a component to a class</a:t>
            </a:r>
            <a:endParaRPr lang="en-US" sz="1800" b="0" strike="noStrike" spc="-1"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Create sub package if necessary</a:t>
            </a:r>
            <a:endParaRPr lang="en-US" sz="1800" b="0" strike="noStrike" spc="-1"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Set priority/group for test case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480" name="Picture 2" descr="How to Write Test Cases for Software (with a Sample)"/>
          <p:cNvPicPr/>
          <p:nvPr/>
        </p:nvPicPr>
        <p:blipFill>
          <a:blip r:embed="rId3"/>
          <a:stretch/>
        </p:blipFill>
        <p:spPr>
          <a:xfrm>
            <a:off x="5167080" y="2829240"/>
            <a:ext cx="5960880" cy="3130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E30613"/>
                </a:solidFill>
                <a:latin typeface="Arial"/>
              </a:rPr>
              <a:t>API Services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2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3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4" name="TextBox 8"/>
          <p:cNvSpPr/>
          <p:nvPr/>
        </p:nvSpPr>
        <p:spPr>
          <a:xfrm>
            <a:off x="838080" y="1331640"/>
            <a:ext cx="107798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Create API class based on component</a:t>
            </a: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</p:txBody>
      </p:sp>
      <p:pic>
        <p:nvPicPr>
          <p:cNvPr id="485" name="Picture 2" descr="Web API Helper Page"/>
          <p:cNvPicPr/>
          <p:nvPr/>
        </p:nvPicPr>
        <p:blipFill>
          <a:blip r:embed="rId3"/>
          <a:stretch/>
        </p:blipFill>
        <p:spPr>
          <a:xfrm>
            <a:off x="957600" y="2247840"/>
            <a:ext cx="9950760" cy="4246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Picture 1"/>
          <p:cNvPicPr/>
          <p:nvPr/>
        </p:nvPicPr>
        <p:blipFill>
          <a:blip r:embed="rId3"/>
          <a:stretch/>
        </p:blipFill>
        <p:spPr>
          <a:xfrm>
            <a:off x="3200400" y="951840"/>
            <a:ext cx="5851800" cy="3145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object 2"/>
          <p:cNvSpPr txBox="1"/>
          <p:nvPr/>
        </p:nvSpPr>
        <p:spPr>
          <a:xfrm>
            <a:off x="916200" y="372240"/>
            <a:ext cx="223308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Re</a:t>
            </a:r>
            <a:r>
              <a:rPr lang="en-US" sz="3200" b="1" strike="noStrike" spc="-26">
                <a:solidFill>
                  <a:srgbClr val="E20512"/>
                </a:solidFill>
                <a:latin typeface="Arial"/>
              </a:rPr>
              <a:t>f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e</a:t>
            </a:r>
            <a:r>
              <a:rPr lang="en-US" sz="3200" b="1" strike="noStrike" spc="24">
                <a:solidFill>
                  <a:srgbClr val="E20512"/>
                </a:solidFill>
                <a:latin typeface="Arial"/>
              </a:rPr>
              <a:t>r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e</a:t>
            </a:r>
            <a:r>
              <a:rPr lang="en-US" sz="3200" b="1" strike="noStrike" spc="-7">
                <a:solidFill>
                  <a:srgbClr val="E20512"/>
                </a:solidFill>
                <a:latin typeface="Arial"/>
              </a:rPr>
              <a:t>n</a:t>
            </a:r>
            <a:r>
              <a:rPr lang="en-US" sz="3200" b="1" strike="noStrike" spc="12">
                <a:solidFill>
                  <a:srgbClr val="E20512"/>
                </a:solidFill>
                <a:latin typeface="Arial"/>
              </a:rPr>
              <a:t>ces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8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 spc="-1">
              <a:latin typeface="Times New Roman"/>
            </a:endParaRPr>
          </a:p>
        </p:txBody>
      </p:sp>
      <p:sp>
        <p:nvSpPr>
          <p:cNvPr id="489" name="object 3"/>
          <p:cNvSpPr/>
          <p:nvPr/>
        </p:nvSpPr>
        <p:spPr>
          <a:xfrm>
            <a:off x="916200" y="990720"/>
            <a:ext cx="7632360" cy="62645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0" rIns="0" bIns="0" anchor="t">
            <a:spAutoFit/>
          </a:bodyPr>
          <a:lstStyle/>
          <a:p>
            <a:pPr marL="12065">
              <a:spcBef>
                <a:spcPts val="850"/>
              </a:spcBef>
            </a:pPr>
            <a:r>
              <a:rPr lang="en-US" sz="1600" b="0" strike="noStrike" spc="24" dirty="0">
                <a:solidFill>
                  <a:srgbClr val="313131"/>
                </a:solidFill>
                <a:latin typeface="Arial"/>
              </a:rPr>
              <a:t>Request:</a:t>
            </a:r>
            <a:r>
              <a:rPr lang="en-US" sz="1600" spc="-157" dirty="0">
                <a:solidFill>
                  <a:srgbClr val="313131"/>
                </a:solidFill>
                <a:latin typeface="Arial"/>
              </a:rPr>
              <a:t> </a:t>
            </a:r>
            <a:endParaRPr lang="en-US" sz="1600" b="0" strike="noStrike" spc="-1" dirty="0">
              <a:latin typeface="Arial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heavy" strike="noStrike" spc="-7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/>
                <a:hlinkClick r:id="rId2"/>
              </a:rPr>
              <a:t>https://restsharp.dev/intro.html#getting-started</a:t>
            </a:r>
            <a:endParaRPr lang="en-US" sz="1600" b="0" strike="noStrike" spc="-1" dirty="0">
              <a:latin typeface="Arial"/>
            </a:endParaRPr>
          </a:p>
          <a:p>
            <a:pPr marL="12065">
              <a:spcBef>
                <a:spcPts val="850"/>
              </a:spcBef>
            </a:pPr>
            <a:r>
              <a:rPr lang="en-US" sz="1600" b="0" strike="noStrike" spc="12" dirty="0">
                <a:solidFill>
                  <a:srgbClr val="313131"/>
                </a:solidFill>
                <a:latin typeface="Arial"/>
              </a:rPr>
              <a:t>Reporter: </a:t>
            </a:r>
            <a:r>
              <a:rPr lang="de-DE" sz="1600" b="0" u="heavy" strike="noStrike" spc="-7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/>
                <a:hlinkClick r:id="rId3"/>
              </a:rPr>
              <a:t>https://www.extentreports.com/docs/versions/4/net/index.html</a:t>
            </a:r>
            <a:r>
              <a:rPr lang="de-DE" sz="1600" u="heavy" spc="-7" dirty="0">
                <a:solidFill>
                  <a:srgbClr val="E20512"/>
                </a:solidFill>
                <a:uFill>
                  <a:solidFill>
                    <a:srgbClr val="E20512"/>
                  </a:solidFill>
                </a:uFill>
                <a:latin typeface="Arial"/>
              </a:rPr>
              <a:t> </a:t>
            </a:r>
            <a:endParaRPr lang="en-US" sz="1600" b="0" strike="noStrike" spc="-1" dirty="0">
              <a:latin typeface="Arial"/>
            </a:endParaRPr>
          </a:p>
          <a:p>
            <a:pPr marL="12065">
              <a:spcBef>
                <a:spcPts val="850"/>
              </a:spcBef>
            </a:pPr>
            <a:r>
              <a:rPr lang="de-DE" sz="1600" b="0" strike="noStrike" spc="4" dirty="0">
                <a:solidFill>
                  <a:srgbClr val="313131"/>
                </a:solidFill>
                <a:latin typeface="Arial"/>
              </a:rPr>
              <a:t>JSON </a:t>
            </a:r>
            <a:r>
              <a:rPr lang="de-DE" sz="1600" b="0" strike="noStrike" spc="9" dirty="0">
                <a:solidFill>
                  <a:srgbClr val="313131"/>
                </a:solidFill>
                <a:latin typeface="Arial"/>
              </a:rPr>
              <a:t>Schema:</a:t>
            </a:r>
            <a:r>
              <a:rPr lang="de-DE" sz="1600" spc="-160" dirty="0">
                <a:solidFill>
                  <a:srgbClr val="313131"/>
                </a:solidFill>
                <a:latin typeface="Arial"/>
              </a:rPr>
              <a:t> </a:t>
            </a:r>
            <a:endParaRPr lang="en-US" sz="1600" b="0" strike="noStrike" spc="-1" dirty="0">
              <a:latin typeface="Arial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heavy" strike="noStrike" spc="4" dirty="0">
                <a:solidFill>
                  <a:srgbClr val="E20512"/>
                </a:solidFill>
                <a:uFill>
                  <a:solidFill>
                    <a:srgbClr val="E20512"/>
                  </a:solidFill>
                </a:uFill>
                <a:latin typeface="Arial"/>
              </a:rPr>
              <a:t>https://www.jsonschema.net/app/schemas/0</a:t>
            </a:r>
            <a:endParaRPr lang="en-US" sz="1600" b="0" strike="noStrike" spc="-1" dirty="0">
              <a:latin typeface="Arial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sng" strike="noStrike" spc="-1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/>
                <a:hlinkClick r:id="rId4"/>
              </a:rPr>
              <a:t>http://json-schema.org/understanding-json-schema/</a:t>
            </a:r>
            <a:endParaRPr lang="en-US" sz="1600" b="0" strike="noStrike" spc="-1" dirty="0">
              <a:latin typeface="Arial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strike="noStrike" spc="-1" dirty="0">
                <a:solidFill>
                  <a:srgbClr val="000000"/>
                </a:solidFill>
                <a:latin typeface="Arial"/>
              </a:rPr>
              <a:t>Postman:</a:t>
            </a:r>
            <a:endParaRPr lang="en-US" sz="1600" b="0" strike="noStrike" spc="-1" dirty="0">
              <a:latin typeface="Arial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sng" strike="noStrike" spc="-1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/>
                <a:hlinkClick r:id="rId5"/>
              </a:rPr>
              <a:t>https://learning.postman.com/docs/getting-started/introduction/</a:t>
            </a:r>
            <a:endParaRPr lang="en-US" sz="1600" b="0" strike="noStrike" spc="-1" dirty="0">
              <a:latin typeface="Arial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strike="noStrike" spc="-1" err="1">
                <a:solidFill>
                  <a:srgbClr val="000000"/>
                </a:solidFill>
                <a:latin typeface="Arial"/>
              </a:rPr>
              <a:t>Fluent</a:t>
            </a:r>
            <a:r>
              <a:rPr lang="de-DE" sz="1600" b="0" strike="noStrike" spc="-1" dirty="0">
                <a:solidFill>
                  <a:srgbClr val="000000"/>
                </a:solidFill>
                <a:latin typeface="Arial"/>
              </a:rPr>
              <a:t> Assertion:</a:t>
            </a:r>
            <a:endParaRPr lang="en-US" sz="1600" b="0" strike="noStrike" spc="-1" dirty="0">
              <a:latin typeface="Arial"/>
            </a:endParaRPr>
          </a:p>
          <a:p>
            <a:pPr marL="12065">
              <a:spcBef>
                <a:spcPts val="850"/>
              </a:spcBef>
            </a:pPr>
            <a:r>
              <a:rPr lang="de-DE" sz="1600" b="0" u="sng" strike="noStrike" spc="-1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/>
                <a:hlinkClick r:id="rId6"/>
              </a:rPr>
              <a:t>https://methodpoet.com/fluent-assertions/</a:t>
            </a:r>
            <a:endParaRPr lang="de-DE" sz="1600" b="0" u="sng" strike="noStrike" spc="-1">
              <a:uFill>
                <a:solidFill>
                  <a:srgbClr val="E20512"/>
                </a:solidFill>
              </a:uFill>
              <a:latin typeface="Arial"/>
            </a:endParaRPr>
          </a:p>
          <a:p>
            <a:pPr marL="12065">
              <a:spcBef>
                <a:spcPts val="850"/>
              </a:spcBef>
            </a:pPr>
            <a:r>
              <a:rPr lang="en-US" sz="1600" spc="-1" dirty="0">
                <a:latin typeface="Arial"/>
              </a:rPr>
              <a:t>Json Object:</a:t>
            </a:r>
          </a:p>
          <a:p>
            <a:pPr marL="12065">
              <a:spcBef>
                <a:spcPts val="850"/>
              </a:spcBef>
            </a:pPr>
            <a:r>
              <a:rPr lang="en-US" sz="1600" spc="-1" dirty="0">
                <a:ea typeface="+mn-lt"/>
                <a:cs typeface="+mn-lt"/>
                <a:hlinkClick r:id="rId7"/>
              </a:rPr>
              <a:t>https://json2csharp.com/</a:t>
            </a:r>
            <a:endParaRPr lang="en-US" sz="1600">
              <a:ea typeface="+mn-lt"/>
              <a:cs typeface="+mn-lt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en-US" sz="1600" spc="-1" err="1">
                <a:ea typeface="+mn-lt"/>
                <a:cs typeface="+mn-lt"/>
              </a:rPr>
              <a:t>Nuget</a:t>
            </a:r>
            <a:r>
              <a:rPr lang="en-US" sz="1600" spc="-1">
                <a:ea typeface="+mn-lt"/>
                <a:cs typeface="+mn-lt"/>
              </a:rPr>
              <a:t>:</a:t>
            </a:r>
            <a:endParaRPr lang="en-US" sz="2000" b="0" strike="noStrike" spc="-1" dirty="0">
              <a:ea typeface="+mn-lt"/>
              <a:cs typeface="+mn-lt"/>
            </a:endParaRPr>
          </a:p>
          <a:p>
            <a:pPr marL="12065">
              <a:spcBef>
                <a:spcPts val="850"/>
              </a:spcBef>
            </a:pPr>
            <a:r>
              <a:rPr lang="en-US" sz="1600" spc="-1" dirty="0">
                <a:ea typeface="+mn-lt"/>
                <a:cs typeface="+mn-lt"/>
                <a:hlinkClick r:id="rId8"/>
              </a:rPr>
              <a:t>https://www.nuget.org/packages/RestSharp</a:t>
            </a:r>
            <a:endParaRPr lang="en-US">
              <a:ea typeface="+mn-lt"/>
              <a:cs typeface="+mn-lt"/>
            </a:endParaRPr>
          </a:p>
          <a:p>
            <a:pPr marL="12065">
              <a:spcBef>
                <a:spcPts val="850"/>
              </a:spcBef>
            </a:pPr>
            <a:endParaRPr lang="en-US" sz="1600" spc="-1" dirty="0">
              <a:ea typeface="+mn-lt"/>
              <a:cs typeface="+mn-lt"/>
            </a:endParaRPr>
          </a:p>
          <a:p>
            <a:pPr marL="12065">
              <a:spcBef>
                <a:spcPts val="850"/>
              </a:spcBef>
            </a:pPr>
            <a:endParaRPr lang="en-US" sz="2000" spc="-1">
              <a:latin typeface="Arial"/>
            </a:endParaRPr>
          </a:p>
          <a:p>
            <a:pPr marL="12065">
              <a:spcBef>
                <a:spcPts val="850"/>
              </a:spcBef>
            </a:pPr>
            <a:endParaRPr lang="en-US" sz="2000" spc="-1">
              <a:latin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itle 1"/>
          <p:cNvSpPr txBox="1"/>
          <p:nvPr/>
        </p:nvSpPr>
        <p:spPr>
          <a:xfrm>
            <a:off x="3684960" y="2641680"/>
            <a:ext cx="4183200" cy="86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latin typeface="Arial"/>
              </a:rPr>
              <a:t>T</a:t>
            </a:r>
            <a:r>
              <a:rPr lang="x-none" sz="4000" b="0" strike="noStrike" spc="-1">
                <a:solidFill>
                  <a:srgbClr val="FFFFFF"/>
                </a:solidFill>
                <a:latin typeface="Arial"/>
              </a:rPr>
              <a:t>hank you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2884</TotalTime>
  <Words>919</Words>
  <Application>Microsoft Office PowerPoint</Application>
  <PresentationFormat>Widescreen</PresentationFormat>
  <Paragraphs>246</Paragraphs>
  <Slides>51</Slides>
  <Notes>13</Notes>
  <HiddenSlides>0</HiddenSlide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What is API Testing?</vt:lpstr>
      <vt:lpstr>PowerPoint Presentation</vt:lpstr>
      <vt:lpstr>PowerPoint Presentation</vt:lpstr>
      <vt:lpstr>PowerPoint Presentation</vt:lpstr>
      <vt:lpstr>PowerPoint Presentation</vt:lpstr>
      <vt:lpstr> 2. Why we do API tests?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API test with RestSharp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Testing with  Cypress</dc:title>
  <dc:subject/>
  <dc:creator/>
  <dc:description/>
  <cp:lastModifiedBy/>
  <cp:revision>143</cp:revision>
  <dcterms:created xsi:type="dcterms:W3CDTF">2022-01-31T08:41:13Z</dcterms:created>
  <dcterms:modified xsi:type="dcterms:W3CDTF">2024-06-11T05:29:06Z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2021-11-18T00:00:00Z</vt:filetime>
  </property>
  <property fmtid="{D5CDD505-2E9C-101B-9397-08002B2CF9AE}" pid="3" name="LastSaved">
    <vt:filetime>2022-01-31T00:00:00Z</vt:filetime>
  </property>
  <property fmtid="{D5CDD505-2E9C-101B-9397-08002B2CF9AE}" pid="4" name="Notes">
    <vt:i4>13</vt:i4>
  </property>
  <property fmtid="{D5CDD505-2E9C-101B-9397-08002B2CF9AE}" pid="5" name="PresentationFormat">
    <vt:lpwstr>Widescreen</vt:lpwstr>
  </property>
  <property fmtid="{D5CDD505-2E9C-101B-9397-08002B2CF9AE}" pid="6" name="Slides">
    <vt:i4>46</vt:i4>
  </property>
</Properties>
</file>